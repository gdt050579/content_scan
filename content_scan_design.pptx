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content_scan: an extensible, plugin-based content scanner in Rust. Walks the architecture, the flat Object result tree, the VarMap scopes, and key design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" name="Shape 1"/>
          <p:cNvSpPr/>
          <p:nvPr/>
        </p:nvSpPr>
        <p:spPr>
          <a:xfrm>
            <a:off x="9180576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" name="Shape 2"/>
          <p:cNvSpPr/>
          <p:nvPr/>
        </p:nvSpPr>
        <p:spPr>
          <a:xfrm>
            <a:off x="9491472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" name="Shape 3"/>
          <p:cNvSpPr/>
          <p:nvPr/>
        </p:nvSpPr>
        <p:spPr>
          <a:xfrm>
            <a:off x="9802368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113264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0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8" name="Shape 6"/>
          <p:cNvSpPr/>
          <p:nvPr/>
        </p:nvSpPr>
        <p:spPr>
          <a:xfrm>
            <a:off x="10735056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9" name="Shape 7"/>
          <p:cNvSpPr/>
          <p:nvPr/>
        </p:nvSpPr>
        <p:spPr>
          <a:xfrm>
            <a:off x="11045952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0" name="Shape 8"/>
          <p:cNvSpPr/>
          <p:nvPr/>
        </p:nvSpPr>
        <p:spPr>
          <a:xfrm>
            <a:off x="11356848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1" name="Shape 9"/>
          <p:cNvSpPr/>
          <p:nvPr/>
        </p:nvSpPr>
        <p:spPr>
          <a:xfrm>
            <a:off x="8869680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2" name="Shape 10"/>
          <p:cNvSpPr/>
          <p:nvPr/>
        </p:nvSpPr>
        <p:spPr>
          <a:xfrm>
            <a:off x="9180576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9491472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02368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13264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24160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35056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5952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56848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0" name="Shape 18"/>
          <p:cNvSpPr/>
          <p:nvPr/>
        </p:nvSpPr>
        <p:spPr>
          <a:xfrm>
            <a:off x="8869680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9180576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9491472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9802368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13264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5" name="Shape 23"/>
          <p:cNvSpPr/>
          <p:nvPr/>
        </p:nvSpPr>
        <p:spPr>
          <a:xfrm>
            <a:off x="10424160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10735056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45952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11356848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9" name="Shape 27"/>
          <p:cNvSpPr/>
          <p:nvPr/>
        </p:nvSpPr>
        <p:spPr>
          <a:xfrm>
            <a:off x="8869680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9180576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9491472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2" name="Shape 30"/>
          <p:cNvSpPr/>
          <p:nvPr/>
        </p:nvSpPr>
        <p:spPr>
          <a:xfrm>
            <a:off x="9802368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13264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10424160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5" name="Shape 33"/>
          <p:cNvSpPr/>
          <p:nvPr/>
        </p:nvSpPr>
        <p:spPr>
          <a:xfrm>
            <a:off x="10735056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6" name="Shape 34"/>
          <p:cNvSpPr/>
          <p:nvPr/>
        </p:nvSpPr>
        <p:spPr>
          <a:xfrm>
            <a:off x="11045952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11356848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8" name="Shape 36"/>
          <p:cNvSpPr/>
          <p:nvPr/>
        </p:nvSpPr>
        <p:spPr>
          <a:xfrm>
            <a:off x="8869680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0576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0" name="Shape 38"/>
          <p:cNvSpPr/>
          <p:nvPr/>
        </p:nvSpPr>
        <p:spPr>
          <a:xfrm>
            <a:off x="9491472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9802368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2" name="Shape 40"/>
          <p:cNvSpPr/>
          <p:nvPr/>
        </p:nvSpPr>
        <p:spPr>
          <a:xfrm>
            <a:off x="10113264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24160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4" name="Shape 42"/>
          <p:cNvSpPr/>
          <p:nvPr/>
        </p:nvSpPr>
        <p:spPr>
          <a:xfrm>
            <a:off x="10735056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45952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6" name="Shape 44"/>
          <p:cNvSpPr/>
          <p:nvPr/>
        </p:nvSpPr>
        <p:spPr>
          <a:xfrm>
            <a:off x="11356848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7" name="Shape 45"/>
          <p:cNvSpPr/>
          <p:nvPr/>
        </p:nvSpPr>
        <p:spPr>
          <a:xfrm>
            <a:off x="8869680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8" name="Shape 46"/>
          <p:cNvSpPr/>
          <p:nvPr/>
        </p:nvSpPr>
        <p:spPr>
          <a:xfrm>
            <a:off x="9180576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9491472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0" name="Shape 48"/>
          <p:cNvSpPr/>
          <p:nvPr/>
        </p:nvSpPr>
        <p:spPr>
          <a:xfrm>
            <a:off x="9802368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10113264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2" name="Shape 50"/>
          <p:cNvSpPr/>
          <p:nvPr/>
        </p:nvSpPr>
        <p:spPr>
          <a:xfrm>
            <a:off x="10424160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3" name="Shape 51"/>
          <p:cNvSpPr/>
          <p:nvPr/>
        </p:nvSpPr>
        <p:spPr>
          <a:xfrm>
            <a:off x="10735056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4" name="Shape 52"/>
          <p:cNvSpPr/>
          <p:nvPr/>
        </p:nvSpPr>
        <p:spPr>
          <a:xfrm>
            <a:off x="11045952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5" name="Shape 53"/>
          <p:cNvSpPr/>
          <p:nvPr/>
        </p:nvSpPr>
        <p:spPr>
          <a:xfrm>
            <a:off x="11356848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8869680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7" name="Shape 55"/>
          <p:cNvSpPr/>
          <p:nvPr/>
        </p:nvSpPr>
        <p:spPr>
          <a:xfrm>
            <a:off x="9180576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8" name="Shape 56"/>
          <p:cNvSpPr/>
          <p:nvPr/>
        </p:nvSpPr>
        <p:spPr>
          <a:xfrm>
            <a:off x="9491472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9" name="Shape 57"/>
          <p:cNvSpPr/>
          <p:nvPr/>
        </p:nvSpPr>
        <p:spPr>
          <a:xfrm>
            <a:off x="9802368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0" name="Shape 58"/>
          <p:cNvSpPr/>
          <p:nvPr/>
        </p:nvSpPr>
        <p:spPr>
          <a:xfrm>
            <a:off x="10113264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1" name="Shape 59"/>
          <p:cNvSpPr/>
          <p:nvPr/>
        </p:nvSpPr>
        <p:spPr>
          <a:xfrm>
            <a:off x="10424160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2" name="Shape 60"/>
          <p:cNvSpPr/>
          <p:nvPr/>
        </p:nvSpPr>
        <p:spPr>
          <a:xfrm>
            <a:off x="10735056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3" name="Shape 61"/>
          <p:cNvSpPr/>
          <p:nvPr/>
        </p:nvSpPr>
        <p:spPr>
          <a:xfrm>
            <a:off x="11045952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4" name="Shape 62"/>
          <p:cNvSpPr/>
          <p:nvPr/>
        </p:nvSpPr>
        <p:spPr>
          <a:xfrm>
            <a:off x="11356848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5" name="Shape 63"/>
          <p:cNvSpPr/>
          <p:nvPr/>
        </p:nvSpPr>
        <p:spPr>
          <a:xfrm>
            <a:off x="8869680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6" name="Shape 64"/>
          <p:cNvSpPr/>
          <p:nvPr/>
        </p:nvSpPr>
        <p:spPr>
          <a:xfrm>
            <a:off x="9180576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7" name="Shape 65"/>
          <p:cNvSpPr/>
          <p:nvPr/>
        </p:nvSpPr>
        <p:spPr>
          <a:xfrm>
            <a:off x="9491472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8" name="Shape 66"/>
          <p:cNvSpPr/>
          <p:nvPr/>
        </p:nvSpPr>
        <p:spPr>
          <a:xfrm>
            <a:off x="9802368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9" name="Shape 67"/>
          <p:cNvSpPr/>
          <p:nvPr/>
        </p:nvSpPr>
        <p:spPr>
          <a:xfrm>
            <a:off x="10113264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0" name="Shape 68"/>
          <p:cNvSpPr/>
          <p:nvPr/>
        </p:nvSpPr>
        <p:spPr>
          <a:xfrm>
            <a:off x="10424160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1" name="Shape 69"/>
          <p:cNvSpPr/>
          <p:nvPr/>
        </p:nvSpPr>
        <p:spPr>
          <a:xfrm>
            <a:off x="10735056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2" name="Shape 70"/>
          <p:cNvSpPr/>
          <p:nvPr/>
        </p:nvSpPr>
        <p:spPr>
          <a:xfrm>
            <a:off x="11045952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3" name="Shape 71"/>
          <p:cNvSpPr/>
          <p:nvPr/>
        </p:nvSpPr>
        <p:spPr>
          <a:xfrm>
            <a:off x="11356848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4" name="Shape 72"/>
          <p:cNvSpPr/>
          <p:nvPr/>
        </p:nvSpPr>
        <p:spPr>
          <a:xfrm>
            <a:off x="8869680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5" name="Shape 73"/>
          <p:cNvSpPr/>
          <p:nvPr/>
        </p:nvSpPr>
        <p:spPr>
          <a:xfrm>
            <a:off x="9180576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6" name="Shape 74"/>
          <p:cNvSpPr/>
          <p:nvPr/>
        </p:nvSpPr>
        <p:spPr>
          <a:xfrm>
            <a:off x="9491472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7" name="Shape 75"/>
          <p:cNvSpPr/>
          <p:nvPr/>
        </p:nvSpPr>
        <p:spPr>
          <a:xfrm>
            <a:off x="9802368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8" name="Shape 76"/>
          <p:cNvSpPr/>
          <p:nvPr/>
        </p:nvSpPr>
        <p:spPr>
          <a:xfrm>
            <a:off x="10113264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9" name="Shape 77"/>
          <p:cNvSpPr/>
          <p:nvPr/>
        </p:nvSpPr>
        <p:spPr>
          <a:xfrm>
            <a:off x="10424160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80" name="Shape 78"/>
          <p:cNvSpPr/>
          <p:nvPr/>
        </p:nvSpPr>
        <p:spPr>
          <a:xfrm>
            <a:off x="10735056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81" name="Shape 79"/>
          <p:cNvSpPr/>
          <p:nvPr/>
        </p:nvSpPr>
        <p:spPr>
          <a:xfrm>
            <a:off x="11045952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82" name="Shape 80"/>
          <p:cNvSpPr/>
          <p:nvPr/>
        </p:nvSpPr>
        <p:spPr>
          <a:xfrm>
            <a:off x="11356848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83" name="Shape 8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4" name="Text 82"/>
          <p:cNvSpPr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 · CONTENT-SCANNING FRAMEWORK</a:t>
            </a:r>
            <a:endParaRPr lang="en-US" sz="1400" dirty="0"/>
          </a:p>
        </p:txBody>
      </p:sp>
      <p:sp>
        <p:nvSpPr>
          <p:cNvPr id="85" name="Text 83"/>
          <p:cNvSpPr/>
          <p:nvPr/>
        </p:nvSpPr>
        <p:spPr>
          <a:xfrm>
            <a:off x="777240" y="182880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content_scan</a:t>
            </a:r>
            <a:endParaRPr lang="en-US" sz="6600" dirty="0"/>
          </a:p>
        </p:txBody>
      </p:sp>
      <p:sp>
        <p:nvSpPr>
          <p:cNvPr id="86" name="Text 84"/>
          <p:cNvSpPr/>
          <p:nvPr/>
        </p:nvSpPr>
        <p:spPr>
          <a:xfrm>
            <a:off x="822960" y="32461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i="1" dirty="0">
                <a:solidFill>
                  <a:srgbClr val="AEBED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plugin pipeline for identifying, analyzing, and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i="1" dirty="0">
                <a:solidFill>
                  <a:srgbClr val="AEBED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extracting structured content out of arbitrary bytes.</a:t>
            </a:r>
            <a:endParaRPr lang="en-US" sz="2200" dirty="0"/>
          </a:p>
        </p:txBody>
      </p:sp>
      <p:sp>
        <p:nvSpPr>
          <p:cNvPr id="87" name="Shape 85"/>
          <p:cNvSpPr/>
          <p:nvPr/>
        </p:nvSpPr>
        <p:spPr>
          <a:xfrm>
            <a:off x="822960" y="4709160"/>
            <a:ext cx="1920240" cy="566928"/>
          </a:xfrm>
          <a:prstGeom prst="roundRect">
            <a:avLst>
              <a:gd name="adj" fmla="val 14516"/>
            </a:avLst>
          </a:prstGeom>
          <a:solidFill>
            <a:srgbClr val="2E3B4E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2960" y="470916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EBE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IDENTIFY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971800" y="4709160"/>
            <a:ext cx="1920240" cy="566928"/>
          </a:xfrm>
          <a:prstGeom prst="roundRect">
            <a:avLst>
              <a:gd name="adj" fmla="val 14516"/>
            </a:avLst>
          </a:prstGeom>
          <a:solidFill>
            <a:srgbClr val="2E3B4E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971800" y="470916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EBE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5120640" y="4709160"/>
            <a:ext cx="1920240" cy="566928"/>
          </a:xfrm>
          <a:prstGeom prst="roundRect">
            <a:avLst>
              <a:gd name="adj" fmla="val 14516"/>
            </a:avLst>
          </a:prstGeom>
          <a:solidFill>
            <a:srgbClr val="2E3B4E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20640" y="470916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EBE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walkthrough — architecture, the result tree &amp; the decisions behind them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00200" y="603504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600200" y="122529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object, two actions, many plugins — and it recurses.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43000" y="2148840"/>
            <a:ext cx="457200" cy="100584"/>
          </a:xfrm>
          <a:prstGeom prst="rect">
            <a:avLst/>
          </a:prstGeom>
          <a:solidFill>
            <a:srgbClr val="5B7089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3317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 Object is anything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43000" y="3108960"/>
            <a:ext cx="28346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file, a folder, a buffer, an archive entry, a process — all one abstraction: an addressable byte source with a path and a size.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35424" y="182880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55464" y="2148840"/>
            <a:ext cx="457200" cy="100584"/>
          </a:xfrm>
          <a:prstGeom prst="rect">
            <a:avLst/>
          </a:prstGeom>
          <a:solidFill>
            <a:srgbClr val="C6832A"/>
          </a:solidFill>
          <a:ln/>
        </p:spPr>
      </p:sp>
      <p:sp>
        <p:nvSpPr>
          <p:cNvPr id="12" name="Text 10"/>
          <p:cNvSpPr/>
          <p:nvPr/>
        </p:nvSpPr>
        <p:spPr>
          <a:xfrm>
            <a:off x="4855464" y="23317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Two things you can do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855464" y="3108960"/>
            <a:ext cx="28346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it (observe behavior, compute features) and EXTRACT from it (a ZIP holds files, a folder holds files, a PE holds an overlay).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47888" y="182880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67928" y="2148840"/>
            <a:ext cx="457200" cy="100584"/>
          </a:xfrm>
          <a:prstGeom prst="rect">
            <a:avLst/>
          </a:prstGeom>
          <a:solidFill>
            <a:srgbClr val="5FA777"/>
          </a:solidFill>
          <a:ln/>
        </p:spPr>
      </p:sp>
      <p:sp>
        <p:nvSpPr>
          <p:cNvPr id="16" name="Text 14"/>
          <p:cNvSpPr/>
          <p:nvPr/>
        </p:nvSpPr>
        <p:spPr>
          <a:xfrm>
            <a:off x="8567928" y="23317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Extraction feeds itself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567928" y="3108960"/>
            <a:ext cx="28346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extract is itself an Object — so scanning a ZIP-in-a-ZIP-in-a-PE is just the same pipeline applied recursively.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70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“Each action has multiple plugins. The scanner dispatches, recurses, and filters — plugins just do their one job.”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" name="Shape 1"/>
          <p:cNvSpPr/>
          <p:nvPr/>
        </p:nvSpPr>
        <p:spPr>
          <a:xfrm>
            <a:off x="10716768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" name="Shape 2"/>
          <p:cNvSpPr/>
          <p:nvPr/>
        </p:nvSpPr>
        <p:spPr>
          <a:xfrm>
            <a:off x="11009376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" name="Shape 3"/>
          <p:cNvSpPr/>
          <p:nvPr/>
        </p:nvSpPr>
        <p:spPr>
          <a:xfrm>
            <a:off x="11301984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6" name="Shape 4"/>
          <p:cNvSpPr/>
          <p:nvPr/>
        </p:nvSpPr>
        <p:spPr>
          <a:xfrm>
            <a:off x="11594592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0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8" name="Shape 6"/>
          <p:cNvSpPr/>
          <p:nvPr/>
        </p:nvSpPr>
        <p:spPr>
          <a:xfrm>
            <a:off x="10716768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9" name="Shape 7"/>
          <p:cNvSpPr/>
          <p:nvPr/>
        </p:nvSpPr>
        <p:spPr>
          <a:xfrm>
            <a:off x="11009376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01984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1" name="Shape 9"/>
          <p:cNvSpPr/>
          <p:nvPr/>
        </p:nvSpPr>
        <p:spPr>
          <a:xfrm>
            <a:off x="11594592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24160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716768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5" name="Shape 13"/>
          <p:cNvSpPr/>
          <p:nvPr/>
        </p:nvSpPr>
        <p:spPr>
          <a:xfrm>
            <a:off x="11301984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94592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4160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8" name="Shape 16"/>
          <p:cNvSpPr/>
          <p:nvPr/>
        </p:nvSpPr>
        <p:spPr>
          <a:xfrm>
            <a:off x="10716768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009376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301984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594592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24160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16768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4" name="Shape 22"/>
          <p:cNvSpPr/>
          <p:nvPr/>
        </p:nvSpPr>
        <p:spPr>
          <a:xfrm>
            <a:off x="11009376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1984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6" name="Shape 24"/>
          <p:cNvSpPr/>
          <p:nvPr/>
        </p:nvSpPr>
        <p:spPr>
          <a:xfrm>
            <a:off x="11594592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24160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8" name="Shape 26"/>
          <p:cNvSpPr/>
          <p:nvPr/>
        </p:nvSpPr>
        <p:spPr>
          <a:xfrm>
            <a:off x="10716768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009376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01984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1" name="Shape 29"/>
          <p:cNvSpPr/>
          <p:nvPr/>
        </p:nvSpPr>
        <p:spPr>
          <a:xfrm>
            <a:off x="11594592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2" name="Shape 30"/>
          <p:cNvSpPr/>
          <p:nvPr/>
        </p:nvSpPr>
        <p:spPr>
          <a:xfrm>
            <a:off x="10424160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3" name="Shape 31"/>
          <p:cNvSpPr/>
          <p:nvPr/>
        </p:nvSpPr>
        <p:spPr>
          <a:xfrm>
            <a:off x="10716768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4" name="Shape 32"/>
          <p:cNvSpPr/>
          <p:nvPr/>
        </p:nvSpPr>
        <p:spPr>
          <a:xfrm>
            <a:off x="11009376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5" name="Shape 33"/>
          <p:cNvSpPr/>
          <p:nvPr/>
        </p:nvSpPr>
        <p:spPr>
          <a:xfrm>
            <a:off x="11301984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94592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7" name="Shape 35"/>
          <p:cNvSpPr/>
          <p:nvPr/>
        </p:nvSpPr>
        <p:spPr>
          <a:xfrm>
            <a:off x="10424160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716768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9" name="Shape 37"/>
          <p:cNvSpPr/>
          <p:nvPr/>
        </p:nvSpPr>
        <p:spPr>
          <a:xfrm>
            <a:off x="11009376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01984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1" name="Shape 39"/>
          <p:cNvSpPr/>
          <p:nvPr/>
        </p:nvSpPr>
        <p:spPr>
          <a:xfrm>
            <a:off x="11594592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2" name="Shape 40"/>
          <p:cNvSpPr/>
          <p:nvPr/>
        </p:nvSpPr>
        <p:spPr>
          <a:xfrm>
            <a:off x="10424160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3" name="Shape 41"/>
          <p:cNvSpPr/>
          <p:nvPr/>
        </p:nvSpPr>
        <p:spPr>
          <a:xfrm>
            <a:off x="10716768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09376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5" name="Shape 43"/>
          <p:cNvSpPr/>
          <p:nvPr/>
        </p:nvSpPr>
        <p:spPr>
          <a:xfrm>
            <a:off x="11301984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6" name="Shape 44"/>
          <p:cNvSpPr/>
          <p:nvPr/>
        </p:nvSpPr>
        <p:spPr>
          <a:xfrm>
            <a:off x="11594592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7" name="Shape 45"/>
          <p:cNvSpPr/>
          <p:nvPr/>
        </p:nvSpPr>
        <p:spPr>
          <a:xfrm>
            <a:off x="10424160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16768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9" name="Shape 47"/>
          <p:cNvSpPr/>
          <p:nvPr/>
        </p:nvSpPr>
        <p:spPr>
          <a:xfrm>
            <a:off x="11009376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01984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1" name="Shape 49"/>
          <p:cNvSpPr/>
          <p:nvPr/>
        </p:nvSpPr>
        <p:spPr>
          <a:xfrm>
            <a:off x="11594592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2" name="Shape 50"/>
          <p:cNvSpPr/>
          <p:nvPr/>
        </p:nvSpPr>
        <p:spPr>
          <a:xfrm>
            <a:off x="10424160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3" name="Shape 51"/>
          <p:cNvSpPr/>
          <p:nvPr/>
        </p:nvSpPr>
        <p:spPr>
          <a:xfrm>
            <a:off x="10716768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4" name="Shape 52"/>
          <p:cNvSpPr/>
          <p:nvPr/>
        </p:nvSpPr>
        <p:spPr>
          <a:xfrm>
            <a:off x="11009376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5" name="Shape 53"/>
          <p:cNvSpPr/>
          <p:nvPr/>
        </p:nvSpPr>
        <p:spPr>
          <a:xfrm>
            <a:off x="11301984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94592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7" name="Shape 55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8" name="Text 56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1600200" y="603504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scanning pipeline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1600200" y="122529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object, in order — any step can Skip the object or Exit the whole scan.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822960" y="2148840"/>
            <a:ext cx="1883664" cy="1417320"/>
          </a:xfrm>
          <a:prstGeom prst="roundRect">
            <a:avLst>
              <a:gd name="adj" fmla="val 5806"/>
            </a:avLst>
          </a:prstGeom>
          <a:solidFill>
            <a:srgbClr val="2E3B4E"/>
          </a:solidFill>
          <a:ln w="19050">
            <a:solidFill>
              <a:srgbClr val="5B708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50976" y="225856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70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22960" y="2532888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22960" y="2990088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+ size gate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2761488" y="2738628"/>
            <a:ext cx="274320" cy="237744"/>
          </a:xfrm>
          <a:prstGeom prst="chevron">
            <a:avLst/>
          </a:prstGeom>
          <a:solidFill>
            <a:srgbClr val="E8A33D"/>
          </a:solidFill>
          <a:ln/>
        </p:spPr>
      </p:sp>
      <p:sp>
        <p:nvSpPr>
          <p:cNvPr id="66" name="Shape 64"/>
          <p:cNvSpPr/>
          <p:nvPr/>
        </p:nvSpPr>
        <p:spPr>
          <a:xfrm>
            <a:off x="3035808" y="2148840"/>
            <a:ext cx="1883664" cy="1417320"/>
          </a:xfrm>
          <a:prstGeom prst="roundRect">
            <a:avLst>
              <a:gd name="adj" fmla="val 5806"/>
            </a:avLst>
          </a:prstGeom>
          <a:solidFill>
            <a:srgbClr val="2E3B4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163824" y="225856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3035808" y="2532888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IDENTIFY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3035808" y="2990088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/ name / ext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4974336" y="2738628"/>
            <a:ext cx="274320" cy="237744"/>
          </a:xfrm>
          <a:prstGeom prst="chevron">
            <a:avLst/>
          </a:prstGeom>
          <a:solidFill>
            <a:srgbClr val="E8A33D"/>
          </a:solidFill>
          <a:ln/>
        </p:spPr>
      </p:sp>
      <p:sp>
        <p:nvSpPr>
          <p:cNvPr id="71" name="Shape 69"/>
          <p:cNvSpPr/>
          <p:nvPr/>
        </p:nvSpPr>
        <p:spPr>
          <a:xfrm>
            <a:off x="5248656" y="2148840"/>
            <a:ext cx="1883664" cy="1417320"/>
          </a:xfrm>
          <a:prstGeom prst="roundRect">
            <a:avLst>
              <a:gd name="adj" fmla="val 5806"/>
            </a:avLst>
          </a:prstGeom>
          <a:solidFill>
            <a:srgbClr val="2E3B4E"/>
          </a:solidFill>
          <a:ln w="19050">
            <a:solidFill>
              <a:srgbClr val="5FA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376672" y="225856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5248656" y="2532888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5248656" y="2990088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then generic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7187184" y="2738628"/>
            <a:ext cx="274320" cy="237744"/>
          </a:xfrm>
          <a:prstGeom prst="chevron">
            <a:avLst/>
          </a:prstGeom>
          <a:solidFill>
            <a:srgbClr val="E8A33D"/>
          </a:solidFill>
          <a:ln/>
        </p:spPr>
      </p:sp>
      <p:sp>
        <p:nvSpPr>
          <p:cNvPr id="76" name="Shape 74"/>
          <p:cNvSpPr/>
          <p:nvPr/>
        </p:nvSpPr>
        <p:spPr>
          <a:xfrm>
            <a:off x="7461504" y="2148840"/>
            <a:ext cx="1883664" cy="1417320"/>
          </a:xfrm>
          <a:prstGeom prst="roundRect">
            <a:avLst>
              <a:gd name="adj" fmla="val 5806"/>
            </a:avLst>
          </a:prstGeom>
          <a:solidFill>
            <a:srgbClr val="2E3B4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589520" y="225856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8" name="Text 76"/>
          <p:cNvSpPr/>
          <p:nvPr/>
        </p:nvSpPr>
        <p:spPr>
          <a:xfrm>
            <a:off x="7461504" y="2532888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7461504" y="2990088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children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9400032" y="2738628"/>
            <a:ext cx="274320" cy="237744"/>
          </a:xfrm>
          <a:prstGeom prst="chevron">
            <a:avLst/>
          </a:prstGeom>
          <a:solidFill>
            <a:srgbClr val="E8A33D"/>
          </a:solidFill>
          <a:ln/>
        </p:spPr>
      </p:sp>
      <p:sp>
        <p:nvSpPr>
          <p:cNvPr id="81" name="Shape 79"/>
          <p:cNvSpPr/>
          <p:nvPr/>
        </p:nvSpPr>
        <p:spPr>
          <a:xfrm>
            <a:off x="9674352" y="2148840"/>
            <a:ext cx="1883664" cy="1417320"/>
          </a:xfrm>
          <a:prstGeom prst="roundRect">
            <a:avLst>
              <a:gd name="adj" fmla="val 5806"/>
            </a:avLst>
          </a:prstGeom>
          <a:solidFill>
            <a:srgbClr val="2E3B4E"/>
          </a:solidFill>
          <a:ln w="19050">
            <a:solidFill>
              <a:srgbClr val="5B708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02368" y="225856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70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83" name="Text 81"/>
          <p:cNvSpPr/>
          <p:nvPr/>
        </p:nvSpPr>
        <p:spPr>
          <a:xfrm>
            <a:off x="9674352" y="2532888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RECURSE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9674352" y="2990088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each child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822960" y="3977640"/>
            <a:ext cx="10735056" cy="868680"/>
          </a:xfrm>
          <a:prstGeom prst="roundRect">
            <a:avLst>
              <a:gd name="adj" fmla="val 8421"/>
            </a:avLst>
          </a:prstGeom>
          <a:solidFill>
            <a:srgbClr val="223044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097280" y="39776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RECURSE  </a:t>
            </a:r>
            <a:pPr indent="0" marL="0">
              <a:buNone/>
            </a:pPr>
            <a:r>
              <a:rPr lang="en-US" sz="14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every extracted child back into step 1 — bounded by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</a:t>
            </a:r>
            <a:pPr indent="0" marL="0">
              <a:buNone/>
            </a:pPr>
            <a:r>
              <a:rPr lang="en-US" sz="14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(default 8).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822960" y="5212080"/>
            <a:ext cx="256032" cy="256032"/>
          </a:xfrm>
          <a:prstGeom prst="ellipse">
            <a:avLst/>
          </a:prstGeom>
          <a:solidFill>
            <a:srgbClr val="5FA777"/>
          </a:solidFill>
          <a:ln/>
        </p:spPr>
      </p:sp>
      <p:sp>
        <p:nvSpPr>
          <p:cNvPr id="88" name="Text 86"/>
          <p:cNvSpPr/>
          <p:nvPr/>
        </p:nvSpPr>
        <p:spPr>
          <a:xfrm>
            <a:off x="1188720" y="513892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  </a:t>
            </a:r>
            <a:pPr indent="0" marL="0">
              <a:buNone/>
            </a:pPr>
            <a:r>
              <a:rPr lang="en-US" sz="13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normally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4389120" y="521208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0" name="Text 88"/>
          <p:cNvSpPr/>
          <p:nvPr/>
        </p:nvSpPr>
        <p:spPr>
          <a:xfrm>
            <a:off x="4754880" y="513892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Skip  </a:t>
            </a:r>
            <a:pPr indent="0" marL="0">
              <a:buNone/>
            </a:pPr>
            <a:r>
              <a:rPr lang="en-US" sz="13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 this object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7955280" y="5212080"/>
            <a:ext cx="256032" cy="256032"/>
          </a:xfrm>
          <a:prstGeom prst="ellipse">
            <a:avLst/>
          </a:prstGeom>
          <a:solidFill>
            <a:srgbClr val="C0563E"/>
          </a:solidFill>
          <a:ln/>
        </p:spPr>
      </p:sp>
      <p:sp>
        <p:nvSpPr>
          <p:cNvPr id="92" name="Text 90"/>
          <p:cNvSpPr/>
          <p:nvPr/>
        </p:nvSpPr>
        <p:spPr>
          <a:xfrm>
            <a:off x="8321040" y="513892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 </a:t>
            </a:r>
            <a:pPr indent="0" marL="0">
              <a:buNone/>
            </a:pPr>
            <a:r>
              <a:rPr lang="en-US" sz="13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 the scan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NextAction — returned by every analyzer &amp; extractor</a:t>
            </a:r>
            <a:endParaRPr lang="en-US" sz="1150" dirty="0"/>
          </a:p>
        </p:txBody>
      </p:sp>
      <p:sp>
        <p:nvSpPr>
          <p:cNvPr id="94" name="Text 9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00200" y="603504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trait model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600200" y="122529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focused traits — a plugin implements only the roles it fills.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5303520" cy="1572768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  <a:effectLst>
            <a:outerShdw sx="100000" sy="100000" kx="0" ky="0" algn="bl" rotWithShape="0" blurRad="101600" dist="31750" dir="5400000">
              <a:srgbClr val="9AA7B8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84832"/>
            <a:ext cx="91440" cy="1060704"/>
          </a:xfrm>
          <a:prstGeom prst="rect">
            <a:avLst/>
          </a:prstGeom>
          <a:solidFill>
            <a:srgbClr val="5B7089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011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Content&lt;T&gt;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240487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abstraction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43000" y="2724912"/>
            <a:ext cx="4800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path() · size() · read(offset,count)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content_type() → Option&lt;T&gt;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64224" y="1828800"/>
            <a:ext cx="5303520" cy="1572768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  <a:effectLst>
            <a:outerShdw sx="100000" sy="100000" kx="0" ky="0" algn="bl" rotWithShape="0" blurRad="101600" dist="31750" dir="5400000">
              <a:srgbClr val="9AA7B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64224" y="2084832"/>
            <a:ext cx="91440" cy="1060704"/>
          </a:xfrm>
          <a:prstGeom prst="rect">
            <a:avLst/>
          </a:prstGeom>
          <a:solidFill>
            <a:srgbClr val="C6832A"/>
          </a:solidFill>
          <a:ln/>
        </p:spPr>
      </p:sp>
      <p:sp>
        <p:nvSpPr>
          <p:cNvPr id="13" name="Text 11"/>
          <p:cNvSpPr/>
          <p:nvPr/>
        </p:nvSpPr>
        <p:spPr>
          <a:xfrm>
            <a:off x="6684264" y="2011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ContentIdentifier&lt;T&gt;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84264" y="240487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68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84264" y="2724912"/>
            <a:ext cx="4800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identify_method() → magic / ext / name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validate(content) → bool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5303520" cy="1572768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  <a:effectLst>
            <a:outerShdw sx="100000" sy="100000" kx="0" ky="0" algn="bl" rotWithShape="0" blurRad="101600" dist="31750" dir="5400000">
              <a:srgbClr val="9AA7B8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867912"/>
            <a:ext cx="91440" cy="1060704"/>
          </a:xfrm>
          <a:prstGeom prst="rect">
            <a:avLst/>
          </a:prstGeom>
          <a:solidFill>
            <a:srgbClr val="5FA777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37947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ContentAnalyzer&lt;T&gt;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41879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FA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&amp; record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43000" y="4507992"/>
            <a:ext cx="4800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analyze(content, &amp;mut Context)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NextAction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64224" y="3611880"/>
            <a:ext cx="5303520" cy="1572768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  <a:effectLst>
            <a:outerShdw sx="100000" sy="100000" kx="0" ky="0" algn="bl" rotWithShape="0" blurRad="101600" dist="31750" dir="5400000">
              <a:srgbClr val="9AA7B8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64224" y="3867912"/>
            <a:ext cx="91440" cy="1060704"/>
          </a:xfrm>
          <a:prstGeom prst="rect">
            <a:avLst/>
          </a:prstGeom>
          <a:solidFill>
            <a:srgbClr val="C0563E"/>
          </a:solidFill>
          <a:ln/>
        </p:spPr>
      </p:sp>
      <p:sp>
        <p:nvSpPr>
          <p:cNvPr id="23" name="Text 21"/>
          <p:cNvSpPr/>
          <p:nvPr/>
        </p:nvSpPr>
        <p:spPr>
          <a:xfrm>
            <a:off x="6684264" y="37947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ContentExtractor&lt;T&gt;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684264" y="41879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5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Peel out children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84264" y="4507992"/>
            <a:ext cx="4800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→ advance → extract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Box&lt;dyn Content&lt;T&gt;&gt;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 can implement several traits.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emulator that analyzes </a:t>
            </a:r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extracts is one type with two impls — shared work cached in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C68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&amp;mut self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" name="Shape 1"/>
          <p:cNvSpPr/>
          <p:nvPr/>
        </p:nvSpPr>
        <p:spPr>
          <a:xfrm>
            <a:off x="795528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" name="Shape 3"/>
          <p:cNvSpPr/>
          <p:nvPr/>
        </p:nvSpPr>
        <p:spPr>
          <a:xfrm>
            <a:off x="1380744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8" name="Shape 6"/>
          <p:cNvSpPr/>
          <p:nvPr/>
        </p:nvSpPr>
        <p:spPr>
          <a:xfrm>
            <a:off x="1088136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9" name="Shape 7"/>
          <p:cNvSpPr/>
          <p:nvPr/>
        </p:nvSpPr>
        <p:spPr>
          <a:xfrm>
            <a:off x="1380744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1" name="Shape 9"/>
          <p:cNvSpPr/>
          <p:nvPr/>
        </p:nvSpPr>
        <p:spPr>
          <a:xfrm>
            <a:off x="795528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88136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3" name="Shape 11"/>
          <p:cNvSpPr/>
          <p:nvPr/>
        </p:nvSpPr>
        <p:spPr>
          <a:xfrm>
            <a:off x="1380744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5" name="Shape 13"/>
          <p:cNvSpPr/>
          <p:nvPr/>
        </p:nvSpPr>
        <p:spPr>
          <a:xfrm>
            <a:off x="795528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8136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7" name="Shape 15"/>
          <p:cNvSpPr/>
          <p:nvPr/>
        </p:nvSpPr>
        <p:spPr>
          <a:xfrm>
            <a:off x="1380744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9" name="Shape 17"/>
          <p:cNvSpPr/>
          <p:nvPr/>
        </p:nvSpPr>
        <p:spPr>
          <a:xfrm>
            <a:off x="795528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0" name="Shape 18"/>
          <p:cNvSpPr/>
          <p:nvPr/>
        </p:nvSpPr>
        <p:spPr>
          <a:xfrm>
            <a:off x="1088136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1" name="Shape 19"/>
          <p:cNvSpPr/>
          <p:nvPr/>
        </p:nvSpPr>
        <p:spPr>
          <a:xfrm>
            <a:off x="1380744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3" name="Shape 21"/>
          <p:cNvSpPr/>
          <p:nvPr/>
        </p:nvSpPr>
        <p:spPr>
          <a:xfrm>
            <a:off x="795528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4" name="Shape 22"/>
          <p:cNvSpPr/>
          <p:nvPr/>
        </p:nvSpPr>
        <p:spPr>
          <a:xfrm>
            <a:off x="1088136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0744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7" name="Shape 25"/>
          <p:cNvSpPr/>
          <p:nvPr/>
        </p:nvSpPr>
        <p:spPr>
          <a:xfrm>
            <a:off x="795528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136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9" name="Shape 27"/>
          <p:cNvSpPr/>
          <p:nvPr/>
        </p:nvSpPr>
        <p:spPr>
          <a:xfrm>
            <a:off x="1380744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0" name="Shape 28"/>
          <p:cNvSpPr/>
          <p:nvPr/>
        </p:nvSpPr>
        <p:spPr>
          <a:xfrm>
            <a:off x="502920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1" name="Shape 29"/>
          <p:cNvSpPr/>
          <p:nvPr/>
        </p:nvSpPr>
        <p:spPr>
          <a:xfrm>
            <a:off x="795528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2" name="Shape 30"/>
          <p:cNvSpPr/>
          <p:nvPr/>
        </p:nvSpPr>
        <p:spPr>
          <a:xfrm>
            <a:off x="1088136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3" name="Shape 31"/>
          <p:cNvSpPr/>
          <p:nvPr/>
        </p:nvSpPr>
        <p:spPr>
          <a:xfrm>
            <a:off x="1380744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4" name="Shape 32"/>
          <p:cNvSpPr/>
          <p:nvPr/>
        </p:nvSpPr>
        <p:spPr>
          <a:xfrm>
            <a:off x="502920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5" name="Shape 33"/>
          <p:cNvSpPr/>
          <p:nvPr/>
        </p:nvSpPr>
        <p:spPr>
          <a:xfrm>
            <a:off x="795528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6" name="Shape 34"/>
          <p:cNvSpPr/>
          <p:nvPr/>
        </p:nvSpPr>
        <p:spPr>
          <a:xfrm>
            <a:off x="1088136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7" name="Shape 35"/>
          <p:cNvSpPr/>
          <p:nvPr/>
        </p:nvSpPr>
        <p:spPr>
          <a:xfrm>
            <a:off x="1380744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8" name="Shape 36"/>
          <p:cNvSpPr/>
          <p:nvPr/>
        </p:nvSpPr>
        <p:spPr>
          <a:xfrm>
            <a:off x="502920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9" name="Shape 37"/>
          <p:cNvSpPr/>
          <p:nvPr/>
        </p:nvSpPr>
        <p:spPr>
          <a:xfrm>
            <a:off x="795528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88136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1" name="Shape 39"/>
          <p:cNvSpPr/>
          <p:nvPr/>
        </p:nvSpPr>
        <p:spPr>
          <a:xfrm>
            <a:off x="1380744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3" name="Shape 41"/>
          <p:cNvSpPr/>
          <p:nvPr/>
        </p:nvSpPr>
        <p:spPr>
          <a:xfrm>
            <a:off x="795528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4" name="Shape 42"/>
          <p:cNvSpPr/>
          <p:nvPr/>
        </p:nvSpPr>
        <p:spPr>
          <a:xfrm>
            <a:off x="1088136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5" name="Shape 43"/>
          <p:cNvSpPr/>
          <p:nvPr/>
        </p:nvSpPr>
        <p:spPr>
          <a:xfrm>
            <a:off x="1380744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6" name="Shape 44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600200" y="603504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Identification</a:t>
            </a:r>
            <a:endParaRPr lang="en-US" sz="3400" dirty="0"/>
          </a:p>
        </p:txBody>
      </p:sp>
      <p:sp>
        <p:nvSpPr>
          <p:cNvPr id="49" name="Text 47"/>
          <p:cNvSpPr/>
          <p:nvPr/>
        </p:nvSpPr>
        <p:spPr>
          <a:xfrm>
            <a:off x="1600200" y="1225296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pre-filter, then confirm — magic is always consulted, so renaming never fools it.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822960" y="2011680"/>
            <a:ext cx="3310128" cy="1737360"/>
          </a:xfrm>
          <a:prstGeom prst="roundRect">
            <a:avLst>
              <a:gd name="adj" fmla="val 4737"/>
            </a:avLst>
          </a:prstGeom>
          <a:solidFill>
            <a:srgbClr val="2E3B4E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9728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MAGIC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1097280" y="2651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16 bytes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097280" y="3063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PK\x03\x04 → Zip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4389120" y="2011680"/>
            <a:ext cx="3310128" cy="1737360"/>
          </a:xfrm>
          <a:prstGeom prst="roundRect">
            <a:avLst>
              <a:gd name="adj" fmla="val 4737"/>
            </a:avLst>
          </a:prstGeom>
          <a:solidFill>
            <a:srgbClr val="2E3B4E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6344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4663440" y="2651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file name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663440" y="3063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Makefile · Dockerfile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7955280" y="2011680"/>
            <a:ext cx="3310128" cy="1737360"/>
          </a:xfrm>
          <a:prstGeom prst="roundRect">
            <a:avLst>
              <a:gd name="adj" fmla="val 4737"/>
            </a:avLst>
          </a:prstGeom>
          <a:solidFill>
            <a:srgbClr val="2E3B4E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22960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EXTENSION</a:t>
            </a:r>
            <a:endParaRPr lang="en-US" sz="1700" dirty="0"/>
          </a:p>
        </p:txBody>
      </p:sp>
      <p:sp>
        <p:nvSpPr>
          <p:cNvPr id="60" name="Text 58"/>
          <p:cNvSpPr/>
          <p:nvPr/>
        </p:nvSpPr>
        <p:spPr>
          <a:xfrm>
            <a:off x="8229600" y="2651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last dot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8229600" y="3063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.pdf · .zip · .exe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5806440" y="3840480"/>
            <a:ext cx="502920" cy="502920"/>
          </a:xfrm>
          <a:prstGeom prst="downArrow">
            <a:avLst/>
          </a:prstGeom>
          <a:solidFill>
            <a:srgbClr val="E8A33D"/>
          </a:solidFill>
          <a:ln/>
        </p:spPr>
      </p:sp>
      <p:sp>
        <p:nvSpPr>
          <p:cNvPr id="63" name="Shape 61"/>
          <p:cNvSpPr/>
          <p:nvPr/>
        </p:nvSpPr>
        <p:spPr>
          <a:xfrm>
            <a:off x="822960" y="4526280"/>
            <a:ext cx="10543032" cy="914400"/>
          </a:xfrm>
          <a:prstGeom prst="roundRect">
            <a:avLst>
              <a:gd name="adj" fmla="val 8000"/>
            </a:avLst>
          </a:prstGeom>
          <a:solidFill>
            <a:srgbClr val="223044"/>
          </a:solidFill>
          <a:ln w="17780">
            <a:solidFill>
              <a:srgbClr val="5FA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97280" y="45262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validate()  </a:t>
            </a:r>
            <a:pPr indent="0" marL="0">
              <a:buNone/>
            </a:pPr>
            <a:r>
              <a:rPr lang="en-US" sz="14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candidate against the real bytes. A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notes.zip</a:t>
            </a:r>
            <a:pPr indent="0" marL="0">
              <a:buNone/>
            </a:pPr>
            <a:r>
              <a:rPr lang="en-US" sz="14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is actually text fails here — the label lies, the content doesn't.</a:t>
            </a:r>
            <a:endParaRPr lang="en-US" sz="1450" dirty="0"/>
          </a:p>
        </p:txBody>
      </p:sp>
      <p:sp>
        <p:nvSpPr>
          <p:cNvPr id="65" name="Text 63"/>
          <p:cNvSpPr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Matcher tiers chosen automatically:  One · packed-magic table · trie — by pattern count &amp; length.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00200" y="6035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Dispatch by contiguous range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00200" y="122529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are keyed (type &lt;&lt; 16 | priority), sorted once — so a type maps to a slice, not a scan.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11704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C683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2199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68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569464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0" y="2148840"/>
            <a:ext cx="11704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C68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3120" y="222199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68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103120" y="2569464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2148840"/>
            <a:ext cx="11704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5FA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222199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2569464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148840"/>
            <a:ext cx="11704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5B708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222199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70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63440" y="2569464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099816"/>
            <a:ext cx="11704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5B708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1729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70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3520440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[4]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03120" y="3099816"/>
            <a:ext cx="11704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5B708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03120" y="31729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70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103120" y="3520440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[5]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83280" y="3099816"/>
            <a:ext cx="11704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C056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31729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56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383280" y="3520440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[6]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3099816"/>
            <a:ext cx="117043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C0563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31729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56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63440" y="3520440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[7]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4160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sorted Vec&lt;(u32, plugin)&gt;   ·   * = generic (0xFFFF)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720840" y="2148840"/>
            <a:ext cx="4617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22008" y="2322576"/>
            <a:ext cx="201168" cy="201168"/>
          </a:xfrm>
          <a:prstGeom prst="ellipse">
            <a:avLst/>
          </a:prstGeom>
          <a:solidFill>
            <a:srgbClr val="C6832A"/>
          </a:solidFill>
          <a:ln/>
        </p:spPr>
      </p:sp>
      <p:sp>
        <p:nvSpPr>
          <p:cNvPr id="33" name="Text 31"/>
          <p:cNvSpPr/>
          <p:nvPr/>
        </p:nvSpPr>
        <p:spPr>
          <a:xfrm>
            <a:off x="7269480" y="2148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range(Zip)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738360" y="214884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8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(0, 2)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720840" y="2807208"/>
            <a:ext cx="4617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22008" y="2980944"/>
            <a:ext cx="201168" cy="201168"/>
          </a:xfrm>
          <a:prstGeom prst="ellipse">
            <a:avLst/>
          </a:prstGeom>
          <a:solidFill>
            <a:srgbClr val="5FA777"/>
          </a:solidFill>
          <a:ln/>
        </p:spPr>
      </p:sp>
      <p:sp>
        <p:nvSpPr>
          <p:cNvPr id="37" name="Text 35"/>
          <p:cNvSpPr/>
          <p:nvPr/>
        </p:nvSpPr>
        <p:spPr>
          <a:xfrm>
            <a:off x="7269480" y="280720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range(Pe)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738360" y="280720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(2, 3)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720840" y="3465576"/>
            <a:ext cx="4617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22008" y="3639312"/>
            <a:ext cx="201168" cy="201168"/>
          </a:xfrm>
          <a:prstGeom prst="ellipse">
            <a:avLst/>
          </a:prstGeom>
          <a:solidFill>
            <a:srgbClr val="5B7089"/>
          </a:solidFill>
          <a:ln/>
        </p:spPr>
      </p:sp>
      <p:sp>
        <p:nvSpPr>
          <p:cNvPr id="41" name="Text 39"/>
          <p:cNvSpPr/>
          <p:nvPr/>
        </p:nvSpPr>
        <p:spPr>
          <a:xfrm>
            <a:off x="7269480" y="346557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range(Pdf)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738360" y="3465576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70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(3, 6)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720840" y="4123944"/>
            <a:ext cx="4617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22008" y="4297680"/>
            <a:ext cx="201168" cy="201168"/>
          </a:xfrm>
          <a:prstGeom prst="ellipse">
            <a:avLst/>
          </a:prstGeom>
          <a:solidFill>
            <a:srgbClr val="C0563E"/>
          </a:solidFill>
          <a:ln/>
        </p:spPr>
      </p:sp>
      <p:sp>
        <p:nvSpPr>
          <p:cNvPr id="45" name="Text 43"/>
          <p:cNvSpPr/>
          <p:nvPr/>
        </p:nvSpPr>
        <p:spPr>
          <a:xfrm>
            <a:off x="7269480" y="4123944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generic_range()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9738360" y="4123944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56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(6, 8)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720840" y="489204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lookup, cache-friendly iteration.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per-object filtering — slice bounds are computed at build time.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" name="Shape 1"/>
          <p:cNvSpPr/>
          <p:nvPr/>
        </p:nvSpPr>
        <p:spPr>
          <a:xfrm>
            <a:off x="10808208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" name="Shape 2"/>
          <p:cNvSpPr/>
          <p:nvPr/>
        </p:nvSpPr>
        <p:spPr>
          <a:xfrm>
            <a:off x="11100816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" name="Shape 3"/>
          <p:cNvSpPr/>
          <p:nvPr/>
        </p:nvSpPr>
        <p:spPr>
          <a:xfrm>
            <a:off x="11393424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6" name="Shape 4"/>
          <p:cNvSpPr/>
          <p:nvPr/>
        </p:nvSpPr>
        <p:spPr>
          <a:xfrm>
            <a:off x="11686032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0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8" name="Shape 6"/>
          <p:cNvSpPr/>
          <p:nvPr/>
        </p:nvSpPr>
        <p:spPr>
          <a:xfrm>
            <a:off x="10808208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9" name="Shape 7"/>
          <p:cNvSpPr/>
          <p:nvPr/>
        </p:nvSpPr>
        <p:spPr>
          <a:xfrm>
            <a:off x="11100816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93424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1" name="Shape 9"/>
          <p:cNvSpPr/>
          <p:nvPr/>
        </p:nvSpPr>
        <p:spPr>
          <a:xfrm>
            <a:off x="11686032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15600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808208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0816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5" name="Shape 13"/>
          <p:cNvSpPr/>
          <p:nvPr/>
        </p:nvSpPr>
        <p:spPr>
          <a:xfrm>
            <a:off x="11393424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1686032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15600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8" name="Shape 16"/>
          <p:cNvSpPr/>
          <p:nvPr/>
        </p:nvSpPr>
        <p:spPr>
          <a:xfrm>
            <a:off x="10808208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00816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393424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86032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15600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3" name="Shape 21"/>
          <p:cNvSpPr/>
          <p:nvPr/>
        </p:nvSpPr>
        <p:spPr>
          <a:xfrm>
            <a:off x="10808208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00816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93424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6" name="Shape 24"/>
          <p:cNvSpPr/>
          <p:nvPr/>
        </p:nvSpPr>
        <p:spPr>
          <a:xfrm>
            <a:off x="11686032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15600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08208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00816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93424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1" name="Shape 29"/>
          <p:cNvSpPr/>
          <p:nvPr/>
        </p:nvSpPr>
        <p:spPr>
          <a:xfrm>
            <a:off x="11686032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2" name="Shape 30"/>
          <p:cNvSpPr/>
          <p:nvPr/>
        </p:nvSpPr>
        <p:spPr>
          <a:xfrm>
            <a:off x="10515600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08208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4" name="Shape 32"/>
          <p:cNvSpPr/>
          <p:nvPr/>
        </p:nvSpPr>
        <p:spPr>
          <a:xfrm>
            <a:off x="11100816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5" name="Shape 33"/>
          <p:cNvSpPr/>
          <p:nvPr/>
        </p:nvSpPr>
        <p:spPr>
          <a:xfrm>
            <a:off x="11393424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6" name="Shape 34"/>
          <p:cNvSpPr/>
          <p:nvPr/>
        </p:nvSpPr>
        <p:spPr>
          <a:xfrm>
            <a:off x="11686032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7" name="Shape 35"/>
          <p:cNvSpPr/>
          <p:nvPr/>
        </p:nvSpPr>
        <p:spPr>
          <a:xfrm>
            <a:off x="10515600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808208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00816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93424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1" name="Shape 39"/>
          <p:cNvSpPr/>
          <p:nvPr/>
        </p:nvSpPr>
        <p:spPr>
          <a:xfrm>
            <a:off x="11686032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2" name="Shape 40"/>
          <p:cNvSpPr/>
          <p:nvPr/>
        </p:nvSpPr>
        <p:spPr>
          <a:xfrm>
            <a:off x="10515600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3" name="Shape 41"/>
          <p:cNvSpPr/>
          <p:nvPr/>
        </p:nvSpPr>
        <p:spPr>
          <a:xfrm>
            <a:off x="10808208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00816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5" name="Shape 43"/>
          <p:cNvSpPr/>
          <p:nvPr/>
        </p:nvSpPr>
        <p:spPr>
          <a:xfrm>
            <a:off x="11393424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6" name="Shape 44"/>
          <p:cNvSpPr/>
          <p:nvPr/>
        </p:nvSpPr>
        <p:spPr>
          <a:xfrm>
            <a:off x="11686032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7" name="Shape 45"/>
          <p:cNvSpPr/>
          <p:nvPr/>
        </p:nvSpPr>
        <p:spPr>
          <a:xfrm>
            <a:off x="10515600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8" name="Shape 46"/>
          <p:cNvSpPr/>
          <p:nvPr/>
        </p:nvSpPr>
        <p:spPr>
          <a:xfrm>
            <a:off x="10808208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9" name="Shape 47"/>
          <p:cNvSpPr/>
          <p:nvPr/>
        </p:nvSpPr>
        <p:spPr>
          <a:xfrm>
            <a:off x="11100816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93424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1" name="Shape 49"/>
          <p:cNvSpPr/>
          <p:nvPr/>
        </p:nvSpPr>
        <p:spPr>
          <a:xfrm>
            <a:off x="11686032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2" name="Shape 50"/>
          <p:cNvSpPr/>
          <p:nvPr/>
        </p:nvSpPr>
        <p:spPr>
          <a:xfrm>
            <a:off x="10515600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3" name="Shape 51"/>
          <p:cNvSpPr/>
          <p:nvPr/>
        </p:nvSpPr>
        <p:spPr>
          <a:xfrm>
            <a:off x="10808208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4" name="Shape 52"/>
          <p:cNvSpPr/>
          <p:nvPr/>
        </p:nvSpPr>
        <p:spPr>
          <a:xfrm>
            <a:off x="11100816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5" name="Shape 53"/>
          <p:cNvSpPr/>
          <p:nvPr/>
        </p:nvSpPr>
        <p:spPr>
          <a:xfrm>
            <a:off x="11393424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6" name="Shape 54"/>
          <p:cNvSpPr/>
          <p:nvPr/>
        </p:nvSpPr>
        <p:spPr>
          <a:xfrm>
            <a:off x="11686032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7" name="Shape 55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8" name="Text 56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1600200" y="6035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global vs local — two scopes</a:t>
            </a:r>
            <a:endParaRPr lang="en-US" sz="3200" dirty="0"/>
          </a:p>
        </p:txBody>
      </p:sp>
      <p:sp>
        <p:nvSpPr>
          <p:cNvPr id="60" name="Text 58"/>
          <p:cNvSpPr/>
          <p:nvPr/>
        </p:nvSpPr>
        <p:spPr>
          <a:xfrm>
            <a:off x="1600200" y="122529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Analyzers write observations into typed VarMaps. Which map you pick is a lifetime decision.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822960" y="1874520"/>
            <a:ext cx="5166360" cy="3246120"/>
          </a:xfrm>
          <a:prstGeom prst="roundRect">
            <a:avLst>
              <a:gd name="adj" fmla="val 2535"/>
            </a:avLst>
          </a:prstGeom>
          <a:solidFill>
            <a:srgbClr val="2E3B4E"/>
          </a:solidFill>
          <a:ln w="20320">
            <a:solidFill>
              <a:srgbClr val="E8A33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43000" y="20848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context.global()</a:t>
            </a:r>
            <a:endParaRPr lang="en-US" sz="2000" dirty="0"/>
          </a:p>
        </p:txBody>
      </p:sp>
      <p:sp>
        <p:nvSpPr>
          <p:cNvPr id="63" name="Text 61"/>
          <p:cNvSpPr/>
          <p:nvPr/>
        </p:nvSpPr>
        <p:spPr>
          <a:xfrm>
            <a:off x="114300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map · whole scan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1143000" y="2999232"/>
            <a:ext cx="4480560" cy="0"/>
          </a:xfrm>
          <a:prstGeom prst="line">
            <a:avLst/>
          </a:prstGeom>
          <a:noFill/>
          <a:ln w="12700">
            <a:solidFill>
              <a:srgbClr val="5B7089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43000" y="3127248"/>
            <a:ext cx="45720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8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by every object at every depth.</a:t>
            </a:r>
            <a:endParaRPr lang="en-US" sz="128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8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Accumulates cross-cutting results — totals, flags, a running verdict.</a:t>
            </a:r>
            <a:endParaRPr lang="en-US" sz="128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8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ScanResult after the scan ends.</a:t>
            </a:r>
            <a:endParaRPr lang="en-US" sz="128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8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once, at the start of scan().</a:t>
            </a:r>
            <a:endParaRPr lang="en-US" sz="1280" dirty="0"/>
          </a:p>
        </p:txBody>
      </p:sp>
      <p:sp>
        <p:nvSpPr>
          <p:cNvPr id="66" name="Shape 64"/>
          <p:cNvSpPr/>
          <p:nvPr/>
        </p:nvSpPr>
        <p:spPr>
          <a:xfrm>
            <a:off x="6263640" y="1874520"/>
            <a:ext cx="5166360" cy="3246120"/>
          </a:xfrm>
          <a:prstGeom prst="roundRect">
            <a:avLst>
              <a:gd name="adj" fmla="val 2535"/>
            </a:avLst>
          </a:prstGeom>
          <a:solidFill>
            <a:srgbClr val="2E3B4E"/>
          </a:solidFill>
          <a:ln w="20320">
            <a:solidFill>
              <a:srgbClr val="5FA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0" y="20848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context.local()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658368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map per object · pooled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6583680" y="2999232"/>
            <a:ext cx="4480560" cy="0"/>
          </a:xfrm>
          <a:prstGeom prst="line">
            <a:avLst/>
          </a:prstGeom>
          <a:noFill/>
          <a:ln w="12700">
            <a:solidFill>
              <a:srgbClr val="5B7089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83680" y="3127248"/>
            <a:ext cx="45720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8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to the object being analyzed.</a:t>
            </a:r>
            <a:endParaRPr lang="en-US" sz="128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8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about THIS content — its own attributes.</a:t>
            </a:r>
            <a:endParaRPr lang="en-US" sz="128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8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Lazily checked out of a reused pool, linked to the object.</a:t>
            </a:r>
            <a:endParaRPr lang="en-US" sz="128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8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per-node afterward: result.local(handle).</a:t>
            </a:r>
            <a:endParaRPr lang="en-US" sz="1280" dirty="0"/>
          </a:p>
        </p:txBody>
      </p:sp>
      <p:sp>
        <p:nvSpPr>
          <p:cNvPr id="71" name="Shape 69"/>
          <p:cNvSpPr/>
          <p:nvPr/>
        </p:nvSpPr>
        <p:spPr>
          <a:xfrm>
            <a:off x="822960" y="5349240"/>
            <a:ext cx="10543032" cy="960120"/>
          </a:xfrm>
          <a:prstGeom prst="roundRect">
            <a:avLst>
              <a:gd name="adj" fmla="val 7619"/>
            </a:avLst>
          </a:prstGeom>
          <a:solidFill>
            <a:srgbClr val="223044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97280" y="5349240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third: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context.extract()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scratch handed to an extractor's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cleared each object.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cross-object → global · per-object → local · analyzer→extractor hint → extract.</a:t>
            </a:r>
            <a:endParaRPr lang="en-US" sz="1350" dirty="0"/>
          </a:p>
        </p:txBody>
      </p:sp>
      <p:sp>
        <p:nvSpPr>
          <p:cNvPr id="73" name="Text 7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00200" y="6035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Steering a generic extractor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00200" y="122529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context.extract() is the analyzer → extractor channel — a hint for one object, cleared each object.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32461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7780">
            <a:solidFill>
              <a:srgbClr val="5FA777"/>
            </a:solidFill>
            <a:prstDash val="solid"/>
          </a:ln>
          <a:effectLst>
            <a:outerShdw sx="100000" sy="100000" kx="0" ky="0" algn="bl" rotWithShape="0" blurRad="101600" dist="31750" dir="5400000">
              <a:srgbClr val="9AA7B8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21671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 ANALYZER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a ZIP appended after the PE image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97280" y="3108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ctx.extract().set(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var!("zip_ofs"), pos)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87952" y="2756916"/>
            <a:ext cx="310896" cy="292608"/>
          </a:xfrm>
          <a:prstGeom prst="chevron">
            <a:avLst/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4617720" y="1965960"/>
            <a:ext cx="2926080" cy="1874520"/>
          </a:xfrm>
          <a:prstGeom prst="roundRect">
            <a:avLst>
              <a:gd name="adj" fmla="val 3902"/>
            </a:avLst>
          </a:prstGeom>
          <a:solidFill>
            <a:srgbClr val="1B2430"/>
          </a:solidFill>
          <a:ln w="2032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1671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context.extract()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00600" y="249631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per-object scratch VarMap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800600" y="2880360"/>
            <a:ext cx="2560320" cy="713232"/>
          </a:xfrm>
          <a:prstGeom prst="roundRect">
            <a:avLst>
              <a:gd name="adj" fmla="val 6410"/>
            </a:avLst>
          </a:prstGeom>
          <a:solidFill>
            <a:srgbClr val="2E3B4E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9900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E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zip_ofs</a:t>
            </a:r>
            <a:pPr indent="0" marL="0">
              <a:buNone/>
            </a:pPr>
            <a:r>
              <a:rPr lang="en-US" sz="1400" dirty="0">
                <a:solidFill>
                  <a:srgbClr val="5B70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62672" y="2756916"/>
            <a:ext cx="310896" cy="292608"/>
          </a:xfrm>
          <a:prstGeom prst="chevron">
            <a:avLst/>
          </a:prstGeom>
          <a:solidFill>
            <a:srgbClr val="E8A33D"/>
          </a:solidFill>
          <a:ln/>
        </p:spPr>
      </p:sp>
      <p:sp>
        <p:nvSpPr>
          <p:cNvPr id="17" name="Shape 15"/>
          <p:cNvSpPr/>
          <p:nvPr/>
        </p:nvSpPr>
        <p:spPr>
          <a:xfrm>
            <a:off x="8092440" y="1965960"/>
            <a:ext cx="327355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7780">
            <a:solidFill>
              <a:srgbClr val="C0563E"/>
            </a:solidFill>
            <a:prstDash val="solid"/>
          </a:ln>
          <a:effectLst>
            <a:outerShdw sx="100000" sy="100000" kx="0" ky="0" algn="bl" rotWithShape="0" blurRad="101600" dist="31750" dir="5400000">
              <a:srgbClr val="9AA7B8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66760" y="216712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56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GENERIC ZIP EXTRACTOR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366760" y="25146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init() reads the hint, seeks there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66760" y="3108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o = map.get(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var!("zip_ofs"))?;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" y="4160520"/>
            <a:ext cx="1054303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83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97280" y="4617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ZIP extractor is </a:t>
            </a:r>
            <a:pPr indent="0" marL="0">
              <a:lnSpc>
                <a:spcPct val="110000"/>
              </a:lnSpc>
              <a:buNone/>
            </a:pPr>
            <a:r>
              <a:rPr lang="en-US" sz="1350" b="1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knows how to unpack a ZIP, not where one hides inside a PE. The PE analyzer supplies that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fact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extract(), so neither plugin needs to know about the other's format.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525780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Contract:  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extract() is cleared at the start of every object, so a hint written by an analyzer is only visible to that same object's extractors — never leaks to siblings.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00200" y="6035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a pool of VarMaps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00200" y="122529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VarMap's arena is append-only — so local maps are reused, never re-allocated per object.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varmap_pool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724912"/>
            <a:ext cx="219456" cy="219456"/>
          </a:xfrm>
          <a:prstGeom prst="ellipse">
            <a:avLst/>
          </a:prstGeom>
          <a:solidFill>
            <a:srgbClr val="5FA777"/>
          </a:solidFill>
          <a:ln/>
        </p:spPr>
      </p:sp>
      <p:sp>
        <p:nvSpPr>
          <p:cNvPr id="9" name="Text 7"/>
          <p:cNvSpPr/>
          <p:nvPr/>
        </p:nvSpPr>
        <p:spPr>
          <a:xfrm>
            <a:off x="1389888" y="2560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VarMap #0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256032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68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use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218688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3383280"/>
            <a:ext cx="219456" cy="219456"/>
          </a:xfrm>
          <a:prstGeom prst="ellipse">
            <a:avLst/>
          </a:prstGeom>
          <a:solidFill>
            <a:srgbClr val="5FA777"/>
          </a:solidFill>
          <a:ln/>
        </p:spPr>
      </p:sp>
      <p:sp>
        <p:nvSpPr>
          <p:cNvPr id="13" name="Text 11"/>
          <p:cNvSpPr/>
          <p:nvPr/>
        </p:nvSpPr>
        <p:spPr>
          <a:xfrm>
            <a:off x="1389888" y="321868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VarMap #1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3218688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68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3877056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4041648"/>
            <a:ext cx="219456" cy="219456"/>
          </a:xfrm>
          <a:prstGeom prst="ellipse">
            <a:avLst/>
          </a:prstGeom>
          <a:solidFill>
            <a:srgbClr val="7A8899"/>
          </a:solidFill>
          <a:ln/>
        </p:spPr>
      </p:sp>
      <p:sp>
        <p:nvSpPr>
          <p:cNvPr id="17" name="Text 15"/>
          <p:cNvSpPr/>
          <p:nvPr/>
        </p:nvSpPr>
        <p:spPr>
          <a:xfrm>
            <a:off x="1389888" y="387705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VarMap #2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0" y="3877056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535424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4700016"/>
            <a:ext cx="219456" cy="219456"/>
          </a:xfrm>
          <a:prstGeom prst="ellipse">
            <a:avLst/>
          </a:prstGeom>
          <a:solidFill>
            <a:srgbClr val="7A8899"/>
          </a:solidFill>
          <a:ln/>
        </p:spPr>
      </p:sp>
      <p:sp>
        <p:nvSpPr>
          <p:cNvPr id="21" name="Text 19"/>
          <p:cNvSpPr/>
          <p:nvPr/>
        </p:nvSpPr>
        <p:spPr>
          <a:xfrm>
            <a:off x="1389888" y="4535424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VarMap #3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57600" y="4535424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" y="523951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out by depth, returned on exit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532120" y="2103120"/>
            <a:ext cx="58064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88152" y="2414016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4"/>
          <p:cNvSpPr/>
          <p:nvPr/>
        </p:nvSpPr>
        <p:spPr>
          <a:xfrm>
            <a:off x="5788152" y="24140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Reused, not re-allocated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309360" y="256032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local() lazily grabs a free slot, clear()s it, and links it to the current object.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532120" y="3246120"/>
            <a:ext cx="58064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88152" y="3557016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1" name="Text 29"/>
          <p:cNvSpPr/>
          <p:nvPr/>
        </p:nvSpPr>
        <p:spPr>
          <a:xfrm>
            <a:off x="5788152" y="35570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9360" y="335584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Bounded memory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09360" y="370332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concurrent depth caps the pool size — not the number of objects scanned.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532120" y="4389120"/>
            <a:ext cx="58064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88152" y="4700016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5788152" y="47000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449884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Survives into the result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309360" y="484632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 records its varmap_index, so result.local(handle) reads its findings later.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" name="Shape 1"/>
          <p:cNvSpPr/>
          <p:nvPr/>
        </p:nvSpPr>
        <p:spPr>
          <a:xfrm>
            <a:off x="795528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" name="Shape 3"/>
          <p:cNvSpPr/>
          <p:nvPr/>
        </p:nvSpPr>
        <p:spPr>
          <a:xfrm>
            <a:off x="1380744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8" name="Shape 6"/>
          <p:cNvSpPr/>
          <p:nvPr/>
        </p:nvSpPr>
        <p:spPr>
          <a:xfrm>
            <a:off x="1088136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9" name="Shape 7"/>
          <p:cNvSpPr/>
          <p:nvPr/>
        </p:nvSpPr>
        <p:spPr>
          <a:xfrm>
            <a:off x="1380744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1" name="Shape 9"/>
          <p:cNvSpPr/>
          <p:nvPr/>
        </p:nvSpPr>
        <p:spPr>
          <a:xfrm>
            <a:off x="795528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88136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3" name="Shape 11"/>
          <p:cNvSpPr/>
          <p:nvPr/>
        </p:nvSpPr>
        <p:spPr>
          <a:xfrm>
            <a:off x="1380744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5" name="Shape 13"/>
          <p:cNvSpPr/>
          <p:nvPr/>
        </p:nvSpPr>
        <p:spPr>
          <a:xfrm>
            <a:off x="795528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8136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7" name="Shape 15"/>
          <p:cNvSpPr/>
          <p:nvPr/>
        </p:nvSpPr>
        <p:spPr>
          <a:xfrm>
            <a:off x="1380744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9" name="Shape 17"/>
          <p:cNvSpPr/>
          <p:nvPr/>
        </p:nvSpPr>
        <p:spPr>
          <a:xfrm>
            <a:off x="795528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0" name="Shape 18"/>
          <p:cNvSpPr/>
          <p:nvPr/>
        </p:nvSpPr>
        <p:spPr>
          <a:xfrm>
            <a:off x="1088136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1" name="Shape 19"/>
          <p:cNvSpPr/>
          <p:nvPr/>
        </p:nvSpPr>
        <p:spPr>
          <a:xfrm>
            <a:off x="1380744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3" name="Shape 21"/>
          <p:cNvSpPr/>
          <p:nvPr/>
        </p:nvSpPr>
        <p:spPr>
          <a:xfrm>
            <a:off x="795528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4" name="Shape 22"/>
          <p:cNvSpPr/>
          <p:nvPr/>
        </p:nvSpPr>
        <p:spPr>
          <a:xfrm>
            <a:off x="1088136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0744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7" name="Shape 25"/>
          <p:cNvSpPr/>
          <p:nvPr/>
        </p:nvSpPr>
        <p:spPr>
          <a:xfrm>
            <a:off x="795528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136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9" name="Shape 27"/>
          <p:cNvSpPr/>
          <p:nvPr/>
        </p:nvSpPr>
        <p:spPr>
          <a:xfrm>
            <a:off x="1380744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0" name="Shape 28"/>
          <p:cNvSpPr/>
          <p:nvPr/>
        </p:nvSpPr>
        <p:spPr>
          <a:xfrm>
            <a:off x="502920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1" name="Shape 29"/>
          <p:cNvSpPr/>
          <p:nvPr/>
        </p:nvSpPr>
        <p:spPr>
          <a:xfrm>
            <a:off x="795528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2" name="Shape 30"/>
          <p:cNvSpPr/>
          <p:nvPr/>
        </p:nvSpPr>
        <p:spPr>
          <a:xfrm>
            <a:off x="1088136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3" name="Shape 31"/>
          <p:cNvSpPr/>
          <p:nvPr/>
        </p:nvSpPr>
        <p:spPr>
          <a:xfrm>
            <a:off x="1380744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4" name="Shape 32"/>
          <p:cNvSpPr/>
          <p:nvPr/>
        </p:nvSpPr>
        <p:spPr>
          <a:xfrm>
            <a:off x="502920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5" name="Shape 33"/>
          <p:cNvSpPr/>
          <p:nvPr/>
        </p:nvSpPr>
        <p:spPr>
          <a:xfrm>
            <a:off x="795528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6" name="Shape 34"/>
          <p:cNvSpPr/>
          <p:nvPr/>
        </p:nvSpPr>
        <p:spPr>
          <a:xfrm>
            <a:off x="1088136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7" name="Shape 35"/>
          <p:cNvSpPr/>
          <p:nvPr/>
        </p:nvSpPr>
        <p:spPr>
          <a:xfrm>
            <a:off x="1380744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8" name="Shape 36"/>
          <p:cNvSpPr/>
          <p:nvPr/>
        </p:nvSpPr>
        <p:spPr>
          <a:xfrm>
            <a:off x="502920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9" name="Shape 37"/>
          <p:cNvSpPr/>
          <p:nvPr/>
        </p:nvSpPr>
        <p:spPr>
          <a:xfrm>
            <a:off x="795528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88136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1" name="Shape 39"/>
          <p:cNvSpPr/>
          <p:nvPr/>
        </p:nvSpPr>
        <p:spPr>
          <a:xfrm>
            <a:off x="1380744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3" name="Shape 41"/>
          <p:cNvSpPr/>
          <p:nvPr/>
        </p:nvSpPr>
        <p:spPr>
          <a:xfrm>
            <a:off x="795528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4" name="Shape 42"/>
          <p:cNvSpPr/>
          <p:nvPr/>
        </p:nvSpPr>
        <p:spPr>
          <a:xfrm>
            <a:off x="1088136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5" name="Shape 43"/>
          <p:cNvSpPr/>
          <p:nvPr/>
        </p:nvSpPr>
        <p:spPr>
          <a:xfrm>
            <a:off x="1380744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6" name="Shape 44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600200" y="6035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result is a tree</a:t>
            </a:r>
            <a:endParaRPr lang="en-US" sz="3200" dirty="0"/>
          </a:p>
        </p:txBody>
      </p:sp>
      <p:sp>
        <p:nvSpPr>
          <p:cNvPr id="49" name="Text 47"/>
          <p:cNvSpPr/>
          <p:nvPr/>
        </p:nvSpPr>
        <p:spPr>
          <a:xfrm>
            <a:off x="1600200" y="122529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Vec&lt;Object&gt; with parent / sibling / child indices — walk it with cheap handles.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1005840" y="2148840"/>
            <a:ext cx="2011680" cy="566928"/>
          </a:xfrm>
          <a:prstGeom prst="roundRect">
            <a:avLst>
              <a:gd name="adj" fmla="val 11290"/>
            </a:avLst>
          </a:prstGeom>
          <a:solidFill>
            <a:srgbClr val="2E3B4E"/>
          </a:solidFill>
          <a:ln w="17780">
            <a:solidFill>
              <a:srgbClr val="E8A3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5840" y="214884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  [0]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011680" y="2715768"/>
            <a:ext cx="-502920" cy="301752"/>
          </a:xfrm>
          <a:prstGeom prst="line">
            <a:avLst/>
          </a:prstGeom>
          <a:noFill/>
          <a:ln w="19050">
            <a:solidFill>
              <a:srgbClr val="5B708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011680" y="2715768"/>
            <a:ext cx="1143000" cy="301752"/>
          </a:xfrm>
          <a:prstGeom prst="line">
            <a:avLst/>
          </a:prstGeom>
          <a:noFill/>
          <a:ln w="19050">
            <a:solidFill>
              <a:srgbClr val="5B708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8680" y="3017520"/>
            <a:ext cx="1371600" cy="566928"/>
          </a:xfrm>
          <a:prstGeom prst="roundRect">
            <a:avLst>
              <a:gd name="adj" fmla="val 11290"/>
            </a:avLst>
          </a:prstGeom>
          <a:solidFill>
            <a:srgbClr val="2E3B4E"/>
          </a:solidFill>
          <a:ln w="17780">
            <a:solidFill>
              <a:srgbClr val="5FA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68680" y="30175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 [1]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560320" y="3017520"/>
            <a:ext cx="1554480" cy="566928"/>
          </a:xfrm>
          <a:prstGeom prst="roundRect">
            <a:avLst>
              <a:gd name="adj" fmla="val 11290"/>
            </a:avLst>
          </a:prstGeom>
          <a:solidFill>
            <a:srgbClr val="2E3B4E"/>
          </a:solidFill>
          <a:ln w="17780">
            <a:solidFill>
              <a:srgbClr val="5FA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60320" y="3017520"/>
            <a:ext cx="1554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 [2]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337560" y="3584448"/>
            <a:ext cx="-457200" cy="850392"/>
          </a:xfrm>
          <a:prstGeom prst="line">
            <a:avLst/>
          </a:prstGeom>
          <a:noFill/>
          <a:ln w="19050">
            <a:solidFill>
              <a:srgbClr val="5B708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37560" y="3584448"/>
            <a:ext cx="548640" cy="850392"/>
          </a:xfrm>
          <a:prstGeom prst="line">
            <a:avLst/>
          </a:prstGeom>
          <a:noFill/>
          <a:ln w="19050">
            <a:solidFill>
              <a:srgbClr val="5B708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240280" y="4434840"/>
            <a:ext cx="1371600" cy="566928"/>
          </a:xfrm>
          <a:prstGeom prst="roundRect">
            <a:avLst>
              <a:gd name="adj" fmla="val 11290"/>
            </a:avLst>
          </a:prstGeom>
          <a:solidFill>
            <a:srgbClr val="2E3B4E"/>
          </a:solidFill>
          <a:ln w="17780">
            <a:solidFill>
              <a:srgbClr val="5B708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240280" y="443484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a.txt [3]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749040" y="4434840"/>
            <a:ext cx="1371600" cy="566928"/>
          </a:xfrm>
          <a:prstGeom prst="roundRect">
            <a:avLst>
              <a:gd name="adj" fmla="val 11290"/>
            </a:avLst>
          </a:prstGeom>
          <a:solidFill>
            <a:srgbClr val="2E3B4E"/>
          </a:solidFill>
          <a:ln w="17780">
            <a:solidFill>
              <a:srgbClr val="5B708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749040" y="443484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b.bin [4]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868680" y="5166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linked by first_child + sibling chains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6537960" y="2011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ScanResult&lt;'a, T&gt;</a:t>
            </a:r>
            <a:endParaRPr lang="en-US" sz="1700" dirty="0"/>
          </a:p>
        </p:txBody>
      </p:sp>
      <p:sp>
        <p:nvSpPr>
          <p:cNvPr id="66" name="Shape 64"/>
          <p:cNvSpPr/>
          <p:nvPr/>
        </p:nvSpPr>
        <p:spPr>
          <a:xfrm>
            <a:off x="6537960" y="2514600"/>
            <a:ext cx="4846320" cy="603504"/>
          </a:xfrm>
          <a:prstGeom prst="roundRect">
            <a:avLst>
              <a:gd name="adj" fmla="val 9091"/>
            </a:avLst>
          </a:prstGeom>
          <a:solidFill>
            <a:srgbClr val="223044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0" y="25511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root()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6766560" y="282549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 scan() started on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6537960" y="3227832"/>
            <a:ext cx="4846320" cy="603504"/>
          </a:xfrm>
          <a:prstGeom prst="roundRect">
            <a:avLst>
              <a:gd name="adj" fmla="val 9091"/>
            </a:avLst>
          </a:prstGeom>
          <a:solidFill>
            <a:srgbClr val="223044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766560" y="32644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child(h) · next_sibling(h)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6766560" y="35387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 &amp; iterate siblings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6537960" y="3941064"/>
            <a:ext cx="4846320" cy="603504"/>
          </a:xfrm>
          <a:prstGeom prst="roundRect">
            <a:avLst>
              <a:gd name="adj" fmla="val 9091"/>
            </a:avLst>
          </a:prstGeom>
          <a:solidFill>
            <a:srgbClr val="223044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766560" y="39776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parent(h)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6766560" y="42519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 back up the tree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6537960" y="4654296"/>
            <a:ext cx="4846320" cy="603504"/>
          </a:xfrm>
          <a:prstGeom prst="roundRect">
            <a:avLst>
              <a:gd name="adj" fmla="val 9091"/>
            </a:avLst>
          </a:prstGeom>
          <a:solidFill>
            <a:srgbClr val="223044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0" y="469087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content_type(h) · path(h)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6766560" y="49651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object was &amp; where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6537960" y="5367528"/>
            <a:ext cx="4846320" cy="603504"/>
          </a:xfrm>
          <a:prstGeom prst="roundRect">
            <a:avLst>
              <a:gd name="adj" fmla="val 9091"/>
            </a:avLst>
          </a:prstGeom>
          <a:solidFill>
            <a:srgbClr val="223044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0" y="540410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local(h) · global()</a:t>
            </a:r>
            <a:endParaRPr lang="en-US" sz="1300" dirty="0"/>
          </a:p>
        </p:txBody>
      </p:sp>
      <p:sp>
        <p:nvSpPr>
          <p:cNvPr id="80" name="Text 78"/>
          <p:cNvSpPr/>
          <p:nvPr/>
        </p:nvSpPr>
        <p:spPr>
          <a:xfrm>
            <a:off x="6766560" y="567842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findings, and the scan-wide map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00200" y="6035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Decisions that shaped the design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00200" y="120700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traded a tempting shortcut for a property that survives real input.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1054303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048256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04825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1883664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Separate traits, not a merged one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40680" y="1883664"/>
            <a:ext cx="5806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 &amp; Extractor stay distinct (findings up, objects down). One struct may still implement both.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2688336"/>
            <a:ext cx="1054303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2907792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290779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2743200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Flat Object tree, index-linked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440680" y="2743200"/>
            <a:ext cx="5806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Box-per-node: one Vec, u32 parent/sibling/child indices, arena-backed paths — cache-friendly &amp; cheap to clone.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3547872"/>
            <a:ext cx="1054303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1560" y="3767328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37673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3602736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Pooled local VarMaps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40680" y="3602736"/>
            <a:ext cx="5806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via clear() across the whole recursion; memory scales with depth, not object count.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4407408"/>
            <a:ext cx="1054303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4626864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462686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4462272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Flat NextAction: Continue / Skip / Exit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440680" y="4462272"/>
            <a:ext cx="5806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SkipAnalyzers — its scope depended on priority order and few plugins needed it.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5266944"/>
            <a:ext cx="1054303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51560" y="5486400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1051560" y="54864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554480" y="5321808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Self-declared content_type()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440680" y="5321808"/>
            <a:ext cx="5806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Trusted, no validation — for content with no signature (a command-line buffer) or known by construction.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" name="Shape 1"/>
          <p:cNvSpPr/>
          <p:nvPr/>
        </p:nvSpPr>
        <p:spPr>
          <a:xfrm>
            <a:off x="795528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" name="Shape 3"/>
          <p:cNvSpPr/>
          <p:nvPr/>
        </p:nvSpPr>
        <p:spPr>
          <a:xfrm>
            <a:off x="1380744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8" name="Shape 6"/>
          <p:cNvSpPr/>
          <p:nvPr/>
        </p:nvSpPr>
        <p:spPr>
          <a:xfrm>
            <a:off x="1088136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9" name="Shape 7"/>
          <p:cNvSpPr/>
          <p:nvPr/>
        </p:nvSpPr>
        <p:spPr>
          <a:xfrm>
            <a:off x="1380744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1" name="Shape 9"/>
          <p:cNvSpPr/>
          <p:nvPr/>
        </p:nvSpPr>
        <p:spPr>
          <a:xfrm>
            <a:off x="795528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88136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3" name="Shape 11"/>
          <p:cNvSpPr/>
          <p:nvPr/>
        </p:nvSpPr>
        <p:spPr>
          <a:xfrm>
            <a:off x="1380744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5" name="Shape 13"/>
          <p:cNvSpPr/>
          <p:nvPr/>
        </p:nvSpPr>
        <p:spPr>
          <a:xfrm>
            <a:off x="795528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8136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7" name="Shape 15"/>
          <p:cNvSpPr/>
          <p:nvPr/>
        </p:nvSpPr>
        <p:spPr>
          <a:xfrm>
            <a:off x="1380744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9" name="Shape 17"/>
          <p:cNvSpPr/>
          <p:nvPr/>
        </p:nvSpPr>
        <p:spPr>
          <a:xfrm>
            <a:off x="795528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0" name="Shape 18"/>
          <p:cNvSpPr/>
          <p:nvPr/>
        </p:nvSpPr>
        <p:spPr>
          <a:xfrm>
            <a:off x="1088136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1" name="Shape 19"/>
          <p:cNvSpPr/>
          <p:nvPr/>
        </p:nvSpPr>
        <p:spPr>
          <a:xfrm>
            <a:off x="1380744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3" name="Shape 21"/>
          <p:cNvSpPr/>
          <p:nvPr/>
        </p:nvSpPr>
        <p:spPr>
          <a:xfrm>
            <a:off x="795528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4" name="Shape 22"/>
          <p:cNvSpPr/>
          <p:nvPr/>
        </p:nvSpPr>
        <p:spPr>
          <a:xfrm>
            <a:off x="1088136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0744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7" name="Shape 25"/>
          <p:cNvSpPr/>
          <p:nvPr/>
        </p:nvSpPr>
        <p:spPr>
          <a:xfrm>
            <a:off x="795528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136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9" name="Shape 27"/>
          <p:cNvSpPr/>
          <p:nvPr/>
        </p:nvSpPr>
        <p:spPr>
          <a:xfrm>
            <a:off x="1380744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0" name="Shape 28"/>
          <p:cNvSpPr/>
          <p:nvPr/>
        </p:nvSpPr>
        <p:spPr>
          <a:xfrm>
            <a:off x="502920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1" name="Shape 29"/>
          <p:cNvSpPr/>
          <p:nvPr/>
        </p:nvSpPr>
        <p:spPr>
          <a:xfrm>
            <a:off x="795528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2" name="Shape 30"/>
          <p:cNvSpPr/>
          <p:nvPr/>
        </p:nvSpPr>
        <p:spPr>
          <a:xfrm>
            <a:off x="1088136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3" name="Shape 31"/>
          <p:cNvSpPr/>
          <p:nvPr/>
        </p:nvSpPr>
        <p:spPr>
          <a:xfrm>
            <a:off x="1380744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4" name="Shape 32"/>
          <p:cNvSpPr/>
          <p:nvPr/>
        </p:nvSpPr>
        <p:spPr>
          <a:xfrm>
            <a:off x="502920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5" name="Shape 33"/>
          <p:cNvSpPr/>
          <p:nvPr/>
        </p:nvSpPr>
        <p:spPr>
          <a:xfrm>
            <a:off x="795528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6" name="Shape 34"/>
          <p:cNvSpPr/>
          <p:nvPr/>
        </p:nvSpPr>
        <p:spPr>
          <a:xfrm>
            <a:off x="1088136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7" name="Shape 35"/>
          <p:cNvSpPr/>
          <p:nvPr/>
        </p:nvSpPr>
        <p:spPr>
          <a:xfrm>
            <a:off x="1380744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8" name="Shape 36"/>
          <p:cNvSpPr/>
          <p:nvPr/>
        </p:nvSpPr>
        <p:spPr>
          <a:xfrm>
            <a:off x="502920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9" name="Shape 37"/>
          <p:cNvSpPr/>
          <p:nvPr/>
        </p:nvSpPr>
        <p:spPr>
          <a:xfrm>
            <a:off x="795528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88136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1" name="Shape 39"/>
          <p:cNvSpPr/>
          <p:nvPr/>
        </p:nvSpPr>
        <p:spPr>
          <a:xfrm>
            <a:off x="1380744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3" name="Shape 41"/>
          <p:cNvSpPr/>
          <p:nvPr/>
        </p:nvSpPr>
        <p:spPr>
          <a:xfrm>
            <a:off x="795528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4" name="Shape 42"/>
          <p:cNvSpPr/>
          <p:nvPr/>
        </p:nvSpPr>
        <p:spPr>
          <a:xfrm>
            <a:off x="1088136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5" name="Shape 43"/>
          <p:cNvSpPr/>
          <p:nvPr/>
        </p:nvSpPr>
        <p:spPr>
          <a:xfrm>
            <a:off x="1380744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6" name="Shape 44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600200" y="603504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Known open item</a:t>
            </a:r>
            <a:endParaRPr lang="en-US" sz="3400" dirty="0"/>
          </a:p>
        </p:txBody>
      </p:sp>
      <p:sp>
        <p:nvSpPr>
          <p:cNvPr id="49" name="Text 47"/>
          <p:cNvSpPr/>
          <p:nvPr/>
        </p:nvSpPr>
        <p:spPr>
          <a:xfrm>
            <a:off x="1600200" y="1225296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correctness issue still standing before the core is complete.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822960" y="1965960"/>
            <a:ext cx="10543032" cy="1737360"/>
          </a:xfrm>
          <a:prstGeom prst="roundRect">
            <a:avLst>
              <a:gd name="adj" fmla="val 4211"/>
            </a:avLst>
          </a:prstGeom>
          <a:solidFill>
            <a:srgbClr val="2E3B4E"/>
          </a:solidFill>
          <a:ln w="20320">
            <a:solidFill>
              <a:srgbClr val="C0563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43000" y="2286000"/>
            <a:ext cx="548640" cy="548640"/>
          </a:xfrm>
          <a:prstGeom prst="ellipse">
            <a:avLst/>
          </a:prstGeom>
          <a:solidFill>
            <a:srgbClr val="C0563E"/>
          </a:solidFill>
          <a:ln/>
        </p:spPr>
      </p:sp>
      <p:sp>
        <p:nvSpPr>
          <p:cNvPr id="52" name="Text 50"/>
          <p:cNvSpPr/>
          <p:nvPr/>
        </p:nvSpPr>
        <p:spPr>
          <a:xfrm>
            <a:off x="114300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!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1920240" y="221284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Extractor cursor re-entrancy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1920240" y="278892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ZIP-in-a-ZIP re-enters the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extractor instance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mid-iteration — the shared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&amp;mut self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cursor gets clobbered by the recursive scan of its own child.</a:t>
            </a:r>
            <a:endParaRPr lang="en-US" sz="1450" dirty="0"/>
          </a:p>
        </p:txBody>
      </p:sp>
      <p:sp>
        <p:nvSpPr>
          <p:cNvPr id="55" name="Text 53"/>
          <p:cNvSpPr/>
          <p:nvPr/>
        </p:nvSpPr>
        <p:spPr>
          <a:xfrm>
            <a:off x="8229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FIX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22960" y="443484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223044"/>
          </a:solidFill>
          <a:ln w="17780">
            <a:solidFill>
              <a:srgbClr val="5FA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97280" y="45262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cursor off </a:t>
            </a:r>
            <a:pPr indent="0" marL="0">
              <a:lnSpc>
                <a:spcPct val="12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&amp;mut self</a:t>
            </a:r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an owned session that </a:t>
            </a:r>
            <a:pPr indent="0" marL="0">
              <a:lnSpc>
                <a:spcPct val="122000"/>
              </a:lnSpc>
              <a:buNone/>
            </a:pPr>
            <a:r>
              <a:rPr lang="en-US" sz="1450" b="1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returns. Each recursion depth gets its own session on its own stack frame — nesting can't corrupt it, and the extractor becomes </a:t>
            </a:r>
            <a:pPr indent="0" marL="0">
              <a:lnSpc>
                <a:spcPct val="122000"/>
              </a:lnSpc>
              <a:buNone/>
            </a:pPr>
            <a:r>
              <a:rPr lang="en-US" sz="1450" b="1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&amp;self</a:t>
            </a:r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58" name="Text 5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" name="Shape 1"/>
          <p:cNvSpPr/>
          <p:nvPr/>
        </p:nvSpPr>
        <p:spPr>
          <a:xfrm>
            <a:off x="10808208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" name="Shape 2"/>
          <p:cNvSpPr/>
          <p:nvPr/>
        </p:nvSpPr>
        <p:spPr>
          <a:xfrm>
            <a:off x="11100816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" name="Shape 3"/>
          <p:cNvSpPr/>
          <p:nvPr/>
        </p:nvSpPr>
        <p:spPr>
          <a:xfrm>
            <a:off x="11393424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6" name="Shape 4"/>
          <p:cNvSpPr/>
          <p:nvPr/>
        </p:nvSpPr>
        <p:spPr>
          <a:xfrm>
            <a:off x="11686032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0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8" name="Shape 6"/>
          <p:cNvSpPr/>
          <p:nvPr/>
        </p:nvSpPr>
        <p:spPr>
          <a:xfrm>
            <a:off x="10808208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9" name="Shape 7"/>
          <p:cNvSpPr/>
          <p:nvPr/>
        </p:nvSpPr>
        <p:spPr>
          <a:xfrm>
            <a:off x="11100816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93424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1" name="Shape 9"/>
          <p:cNvSpPr/>
          <p:nvPr/>
        </p:nvSpPr>
        <p:spPr>
          <a:xfrm>
            <a:off x="11686032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15600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808208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0816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5" name="Shape 13"/>
          <p:cNvSpPr/>
          <p:nvPr/>
        </p:nvSpPr>
        <p:spPr>
          <a:xfrm>
            <a:off x="11393424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1686032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15600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8" name="Shape 16"/>
          <p:cNvSpPr/>
          <p:nvPr/>
        </p:nvSpPr>
        <p:spPr>
          <a:xfrm>
            <a:off x="10808208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00816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393424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86032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15600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3" name="Shape 21"/>
          <p:cNvSpPr/>
          <p:nvPr/>
        </p:nvSpPr>
        <p:spPr>
          <a:xfrm>
            <a:off x="10808208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00816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93424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6" name="Shape 24"/>
          <p:cNvSpPr/>
          <p:nvPr/>
        </p:nvSpPr>
        <p:spPr>
          <a:xfrm>
            <a:off x="11686032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15600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08208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00816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93424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1" name="Shape 29"/>
          <p:cNvSpPr/>
          <p:nvPr/>
        </p:nvSpPr>
        <p:spPr>
          <a:xfrm>
            <a:off x="11686032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2" name="Shape 30"/>
          <p:cNvSpPr/>
          <p:nvPr/>
        </p:nvSpPr>
        <p:spPr>
          <a:xfrm>
            <a:off x="10515600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08208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4" name="Shape 32"/>
          <p:cNvSpPr/>
          <p:nvPr/>
        </p:nvSpPr>
        <p:spPr>
          <a:xfrm>
            <a:off x="11100816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5" name="Shape 33"/>
          <p:cNvSpPr/>
          <p:nvPr/>
        </p:nvSpPr>
        <p:spPr>
          <a:xfrm>
            <a:off x="11393424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6" name="Shape 34"/>
          <p:cNvSpPr/>
          <p:nvPr/>
        </p:nvSpPr>
        <p:spPr>
          <a:xfrm>
            <a:off x="11686032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7" name="Shape 35"/>
          <p:cNvSpPr/>
          <p:nvPr/>
        </p:nvSpPr>
        <p:spPr>
          <a:xfrm>
            <a:off x="10515600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808208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00816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93424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1" name="Shape 39"/>
          <p:cNvSpPr/>
          <p:nvPr/>
        </p:nvSpPr>
        <p:spPr>
          <a:xfrm>
            <a:off x="11686032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2" name="Shape 40"/>
          <p:cNvSpPr/>
          <p:nvPr/>
        </p:nvSpPr>
        <p:spPr>
          <a:xfrm>
            <a:off x="10515600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3" name="Shape 41"/>
          <p:cNvSpPr/>
          <p:nvPr/>
        </p:nvSpPr>
        <p:spPr>
          <a:xfrm>
            <a:off x="10808208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00816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5" name="Shape 43"/>
          <p:cNvSpPr/>
          <p:nvPr/>
        </p:nvSpPr>
        <p:spPr>
          <a:xfrm>
            <a:off x="11393424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6" name="Shape 44"/>
          <p:cNvSpPr/>
          <p:nvPr/>
        </p:nvSpPr>
        <p:spPr>
          <a:xfrm>
            <a:off x="11686032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7" name="Shape 45"/>
          <p:cNvSpPr/>
          <p:nvPr/>
        </p:nvSpPr>
        <p:spPr>
          <a:xfrm>
            <a:off x="10515600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8" name="Shape 46"/>
          <p:cNvSpPr/>
          <p:nvPr/>
        </p:nvSpPr>
        <p:spPr>
          <a:xfrm>
            <a:off x="10808208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9" name="Shape 47"/>
          <p:cNvSpPr/>
          <p:nvPr/>
        </p:nvSpPr>
        <p:spPr>
          <a:xfrm>
            <a:off x="11100816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93424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1" name="Shape 49"/>
          <p:cNvSpPr/>
          <p:nvPr/>
        </p:nvSpPr>
        <p:spPr>
          <a:xfrm>
            <a:off x="11686032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2" name="Shape 50"/>
          <p:cNvSpPr/>
          <p:nvPr/>
        </p:nvSpPr>
        <p:spPr>
          <a:xfrm>
            <a:off x="10515600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3" name="Shape 51"/>
          <p:cNvSpPr/>
          <p:nvPr/>
        </p:nvSpPr>
        <p:spPr>
          <a:xfrm>
            <a:off x="10808208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4" name="Shape 52"/>
          <p:cNvSpPr/>
          <p:nvPr/>
        </p:nvSpPr>
        <p:spPr>
          <a:xfrm>
            <a:off x="11100816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5" name="Shape 53"/>
          <p:cNvSpPr/>
          <p:nvPr/>
        </p:nvSpPr>
        <p:spPr>
          <a:xfrm>
            <a:off x="11393424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6" name="Shape 54"/>
          <p:cNvSpPr/>
          <p:nvPr/>
        </p:nvSpPr>
        <p:spPr>
          <a:xfrm>
            <a:off x="11686032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7" name="Shape 55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8" name="Text 56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1600200" y="6035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Building a scanner — minimal</a:t>
            </a:r>
            <a:endParaRPr lang="en-US" sz="3200" dirty="0"/>
          </a:p>
        </p:txBody>
      </p:sp>
      <p:sp>
        <p:nvSpPr>
          <p:cNvPr id="60" name="Text 58"/>
          <p:cNvSpPr/>
          <p:nvPr/>
        </p:nvSpPr>
        <p:spPr>
          <a:xfrm>
            <a:off x="1600200" y="122529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type, one identifier, one analyzer — the smallest useful pipeline.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822960" y="1874520"/>
            <a:ext cx="10543032" cy="3703320"/>
          </a:xfrm>
          <a:prstGeom prst="roundRect">
            <a:avLst>
              <a:gd name="adj" fmla="val 1975"/>
            </a:avLst>
          </a:prstGeom>
          <a:solidFill>
            <a:srgbClr val="151D28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280160" y="2130552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mut scanner = </a:t>
            </a:r>
            <a:pPr indent="0" marL="0">
              <a:buNone/>
            </a:pPr>
            <a:r>
              <a:rPr lang="en-US" sz="14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ScannerBuilder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::&lt;</a:t>
            </a:r>
            <a:pPr indent="0" marL="0">
              <a:buNone/>
            </a:pPr>
            <a:r>
              <a:rPr lang="en-US" sz="14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FileType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&gt;::</a:t>
            </a:r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1280160" y="2459736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add_identifier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FileType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::Text, </a:t>
            </a:r>
            <a:pPr indent="0" marL="0">
              <a:buNone/>
            </a:pPr>
            <a:r>
              <a:rPr lang="en-US" sz="14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TextIdentifier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{})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1280160" y="2788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add_analyzer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FileType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::Text, </a:t>
            </a:r>
            <a:pPr indent="0" marL="0">
              <a:buNone/>
            </a:pPr>
            <a:r>
              <a:rPr lang="en-US" sz="140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VowelAnalyzer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{})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1280160" y="3118104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1280160" y="3447288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1280160" y="3776472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mut content = </a:t>
            </a:r>
            <a:pPr indent="0" marL="0">
              <a:buNone/>
            </a:pPr>
            <a:r>
              <a:rPr lang="en-US" sz="14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BufferContent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</a:t>
            </a:r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with_content_type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1280160" y="4105656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data, </a:t>
            </a:r>
            <a:pPr indent="0" marL="0">
              <a:buNone/>
            </a:pPr>
            <a:r>
              <a:rPr lang="en-US" sz="140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"input.txt"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FileType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::Text);</a:t>
            </a:r>
            <a:endParaRPr lang="en-US" sz="1400" dirty="0"/>
          </a:p>
        </p:txBody>
      </p:sp>
      <p:sp>
        <p:nvSpPr>
          <p:cNvPr id="69" name="Text 67"/>
          <p:cNvSpPr/>
          <p:nvPr/>
        </p:nvSpPr>
        <p:spPr>
          <a:xfrm>
            <a:off x="1280160" y="443484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1280160" y="4764024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result = scanner.</a:t>
            </a:r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(&amp;mut content);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1280160" y="5093208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</a:t>
            </a:r>
            <a:pPr indent="0" marL="0">
              <a:buNone/>
            </a:pPr>
            <a:r>
              <a:rPr lang="en-US" sz="140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"scanned {} objects"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result.</a:t>
            </a:r>
            <a:pPr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objects_scanned</a:t>
            </a:r>
            <a:pPr indent="0" marL="0">
              <a:buNone/>
            </a:pPr>
            <a:r>
              <a:rPr lang="en-US" sz="14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());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822960" y="5715000"/>
            <a:ext cx="10543032" cy="685800"/>
          </a:xfrm>
          <a:prstGeom prst="roundRect">
            <a:avLst>
              <a:gd name="adj" fmla="val 10667"/>
            </a:avLst>
          </a:prstGeom>
          <a:solidFill>
            <a:srgbClr val="223044"/>
          </a:solidFill>
          <a:ln w="12700">
            <a:solidFill>
              <a:srgbClr val="5B7089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97280" y="5715000"/>
            <a:ext cx="9994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in any order.  </a:t>
            </a:r>
            <a:pPr indent="0" marL="0">
              <a:buNone/>
            </a:pPr>
            <a:r>
              <a:rPr lang="en-US" sz="13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sorts plugins by (type, priority) at </a:t>
            </a:r>
            <a:pPr indent="0" marL="0"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build()</a:t>
            </a:r>
            <a:pPr indent="0" marL="0">
              <a:buNone/>
            </a:pPr>
            <a:r>
              <a:rPr lang="en-US" sz="13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scan then dispatches by contiguous range.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" name="Shape 1"/>
          <p:cNvSpPr/>
          <p:nvPr/>
        </p:nvSpPr>
        <p:spPr>
          <a:xfrm>
            <a:off x="795528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5" name="Shape 3"/>
          <p:cNvSpPr/>
          <p:nvPr/>
        </p:nvSpPr>
        <p:spPr>
          <a:xfrm>
            <a:off x="1380744" y="54864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8" name="Shape 6"/>
          <p:cNvSpPr/>
          <p:nvPr/>
        </p:nvSpPr>
        <p:spPr>
          <a:xfrm>
            <a:off x="1088136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9" name="Shape 7"/>
          <p:cNvSpPr/>
          <p:nvPr/>
        </p:nvSpPr>
        <p:spPr>
          <a:xfrm>
            <a:off x="1380744" y="84124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1" name="Shape 9"/>
          <p:cNvSpPr/>
          <p:nvPr/>
        </p:nvSpPr>
        <p:spPr>
          <a:xfrm>
            <a:off x="795528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88136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3" name="Shape 11"/>
          <p:cNvSpPr/>
          <p:nvPr/>
        </p:nvSpPr>
        <p:spPr>
          <a:xfrm>
            <a:off x="1380744" y="113385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5" name="Shape 13"/>
          <p:cNvSpPr/>
          <p:nvPr/>
        </p:nvSpPr>
        <p:spPr>
          <a:xfrm>
            <a:off x="795528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8136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7" name="Shape 15"/>
          <p:cNvSpPr/>
          <p:nvPr/>
        </p:nvSpPr>
        <p:spPr>
          <a:xfrm>
            <a:off x="1380744" y="142646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19" name="Shape 17"/>
          <p:cNvSpPr/>
          <p:nvPr/>
        </p:nvSpPr>
        <p:spPr>
          <a:xfrm>
            <a:off x="795528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0" name="Shape 18"/>
          <p:cNvSpPr/>
          <p:nvPr/>
        </p:nvSpPr>
        <p:spPr>
          <a:xfrm>
            <a:off x="1088136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1" name="Shape 19"/>
          <p:cNvSpPr/>
          <p:nvPr/>
        </p:nvSpPr>
        <p:spPr>
          <a:xfrm>
            <a:off x="1380744" y="171907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3" name="Shape 21"/>
          <p:cNvSpPr/>
          <p:nvPr/>
        </p:nvSpPr>
        <p:spPr>
          <a:xfrm>
            <a:off x="795528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4" name="Shape 22"/>
          <p:cNvSpPr/>
          <p:nvPr/>
        </p:nvSpPr>
        <p:spPr>
          <a:xfrm>
            <a:off x="1088136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0744" y="201168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7" name="Shape 25"/>
          <p:cNvSpPr/>
          <p:nvPr/>
        </p:nvSpPr>
        <p:spPr>
          <a:xfrm>
            <a:off x="795528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8136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29" name="Shape 27"/>
          <p:cNvSpPr/>
          <p:nvPr/>
        </p:nvSpPr>
        <p:spPr>
          <a:xfrm>
            <a:off x="1380744" y="2304288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0" name="Shape 28"/>
          <p:cNvSpPr/>
          <p:nvPr/>
        </p:nvSpPr>
        <p:spPr>
          <a:xfrm>
            <a:off x="502920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1" name="Shape 29"/>
          <p:cNvSpPr/>
          <p:nvPr/>
        </p:nvSpPr>
        <p:spPr>
          <a:xfrm>
            <a:off x="795528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2" name="Shape 30"/>
          <p:cNvSpPr/>
          <p:nvPr/>
        </p:nvSpPr>
        <p:spPr>
          <a:xfrm>
            <a:off x="1088136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3" name="Shape 31"/>
          <p:cNvSpPr/>
          <p:nvPr/>
        </p:nvSpPr>
        <p:spPr>
          <a:xfrm>
            <a:off x="1380744" y="2596896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4" name="Shape 32"/>
          <p:cNvSpPr/>
          <p:nvPr/>
        </p:nvSpPr>
        <p:spPr>
          <a:xfrm>
            <a:off x="502920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5" name="Shape 33"/>
          <p:cNvSpPr/>
          <p:nvPr/>
        </p:nvSpPr>
        <p:spPr>
          <a:xfrm>
            <a:off x="795528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6" name="Shape 34"/>
          <p:cNvSpPr/>
          <p:nvPr/>
        </p:nvSpPr>
        <p:spPr>
          <a:xfrm>
            <a:off x="1088136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7" name="Shape 35"/>
          <p:cNvSpPr/>
          <p:nvPr/>
        </p:nvSpPr>
        <p:spPr>
          <a:xfrm>
            <a:off x="1380744" y="2889504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8" name="Shape 36"/>
          <p:cNvSpPr/>
          <p:nvPr/>
        </p:nvSpPr>
        <p:spPr>
          <a:xfrm>
            <a:off x="502920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39" name="Shape 37"/>
          <p:cNvSpPr/>
          <p:nvPr/>
        </p:nvSpPr>
        <p:spPr>
          <a:xfrm>
            <a:off x="795528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88136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1" name="Shape 39"/>
          <p:cNvSpPr/>
          <p:nvPr/>
        </p:nvSpPr>
        <p:spPr>
          <a:xfrm>
            <a:off x="1380744" y="3182112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3" name="Shape 41"/>
          <p:cNvSpPr/>
          <p:nvPr/>
        </p:nvSpPr>
        <p:spPr>
          <a:xfrm>
            <a:off x="795528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4" name="Shape 42"/>
          <p:cNvSpPr/>
          <p:nvPr/>
        </p:nvSpPr>
        <p:spPr>
          <a:xfrm>
            <a:off x="1088136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5" name="Shape 43"/>
          <p:cNvSpPr/>
          <p:nvPr/>
        </p:nvSpPr>
        <p:spPr>
          <a:xfrm>
            <a:off x="1380744" y="3474720"/>
            <a:ext cx="45720" cy="45720"/>
          </a:xfrm>
          <a:prstGeom prst="ellipse">
            <a:avLst/>
          </a:prstGeom>
          <a:solidFill>
            <a:srgbClr val="2A3648"/>
          </a:solidFill>
          <a:ln/>
        </p:spPr>
      </p:sp>
      <p:sp>
        <p:nvSpPr>
          <p:cNvPr id="46" name="Shape 44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600200" y="6035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Building a scanner — full pipeline</a:t>
            </a:r>
            <a:endParaRPr lang="en-US" sz="3000" dirty="0"/>
          </a:p>
        </p:txBody>
      </p:sp>
      <p:sp>
        <p:nvSpPr>
          <p:cNvPr id="49" name="Text 47"/>
          <p:cNvSpPr/>
          <p:nvPr/>
        </p:nvSpPr>
        <p:spPr>
          <a:xfrm>
            <a:off x="1600200" y="1188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types, generic plugins, a filter, and a depth cap — assembled fluently.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822960" y="1737360"/>
            <a:ext cx="10543032" cy="4480560"/>
          </a:xfrm>
          <a:prstGeom prst="roundRect">
            <a:avLst>
              <a:gd name="adj" fmla="val 1633"/>
            </a:avLst>
          </a:prstGeom>
          <a:solidFill>
            <a:srgbClr val="151D28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280160" y="1956816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mut scanner = 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ScannerBuilder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::&lt;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FileType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&gt;::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280160" y="2278685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(my_filter)</a:t>
            </a:r>
            <a:pPr indent="0" marL="0">
              <a:buNone/>
            </a:pPr>
            <a:r>
              <a:rPr lang="en-US" sz="1250" dirty="0">
                <a:solidFill>
                  <a:srgbClr val="6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// gate paths &amp; sizes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1280160" y="2600554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5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50" dirty="0">
                <a:solidFill>
                  <a:srgbClr val="6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// archive nesting limit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1280160" y="2922422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identifiers — one per type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1280160" y="3244291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add_identifier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FileType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::Zip,  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ZipId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{})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1280160" y="356616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add_identifier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FileType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::Pe,   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PeId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{})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1280160" y="3888029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analyzers — typed run before generic; low priority first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1280160" y="4209898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add_analyzer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FileType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::Pe, </a:t>
            </a:r>
            <a:pPr indent="0" marL="0">
              <a:buNone/>
            </a:pPr>
            <a:r>
              <a:rPr lang="en-US" sz="125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ImportScanner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{})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1280160" y="4531766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add_generic_analyzer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5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EntropyMeter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{})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1280160" y="4853635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extractors — peel containers, scanner recurses into children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1280160" y="5175504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add_extractor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FileType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::Zip, </a:t>
            </a:r>
            <a:pPr indent="0" marL="0">
              <a:buNone/>
            </a:pPr>
            <a:r>
              <a:rPr lang="en-US" sz="125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ZipExtractor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::default())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1280160" y="5497373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add_generic_extractor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5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SfxExtractor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::default())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1280160" y="5819242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822960" y="630936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plugins run on every object regardless of type · duplicate identifier for a type panics at build().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00200" y="6035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Building a filter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00200" y="122529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rules with a Precedence and an explicit default — first match wins.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1874520"/>
            <a:ext cx="516636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  <a:effectLst>
            <a:outerShdw sx="100000" sy="100000" kx="0" ky="0" algn="bl" rotWithShape="0" blurRad="101600" dist="31750" dir="5400000">
              <a:srgbClr val="9AA7B8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SIMPLE — allowlist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97280" y="2560320"/>
            <a:ext cx="4617720" cy="2606040"/>
          </a:xfrm>
          <a:prstGeom prst="roundRect">
            <a:avLst>
              <a:gd name="adj" fmla="val 2105"/>
            </a:avLst>
          </a:prstGeom>
          <a:solidFill>
            <a:srgbClr val="151D28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74320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FilterBuilder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325880" y="312724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include_extensions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325880" y="35112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::High,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25880" y="389534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&amp;[</a:t>
            </a:r>
            <a:pPr indent="0" marL="0">
              <a:buNone/>
            </a:pPr>
            <a:r>
              <a:rPr lang="en-US" sz="125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"rs"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5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"toml"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25880" y="427939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deny_the_rest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25880" y="466344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buNone/>
            </a:pPr>
            <a:r>
              <a:rPr lang="en-US" sz="125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43000" y="527608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.rs / .toml pass; everything else is denied.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99632" y="1874520"/>
            <a:ext cx="516636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  <a:effectLst>
            <a:outerShdw sx="100000" sy="100000" kx="0" ky="0" algn="bl" rotWithShape="0" blurRad="101600" dist="31750" dir="5400000">
              <a:srgbClr val="9AA7B8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9672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8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 — mixed rules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560320"/>
            <a:ext cx="4617720" cy="2606040"/>
          </a:xfrm>
          <a:prstGeom prst="roundRect">
            <a:avLst>
              <a:gd name="adj" fmla="val 2105"/>
            </a:avLst>
          </a:prstGeom>
          <a:solidFill>
            <a:srgbClr val="151D28"/>
          </a:solidFill>
          <a:ln/>
        </p:spPr>
      </p:sp>
      <p:sp>
        <p:nvSpPr>
          <p:cNvPr id="19" name="Text 17"/>
          <p:cNvSpPr/>
          <p:nvPr/>
        </p:nvSpPr>
        <p:spPr>
          <a:xfrm>
            <a:off x="6702552" y="271576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FilterBuilder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</a:t>
            </a:r>
            <a:pPr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02552" y="302209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exclude_file_names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::High,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02552" y="332841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&amp;[</a:t>
            </a:r>
            <a:pPr indent="0" marL="0">
              <a:buNone/>
            </a:pPr>
            <a:r>
              <a:rPr lang="en-US" sz="120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"Cargo.lock"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02552" y="363474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include_extensions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::Medium,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02552" y="3941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&amp;[</a:t>
            </a:r>
            <a:pPr indent="0" marL="0">
              <a:buNone/>
            </a:pPr>
            <a:r>
              <a:rPr lang="en-US" sz="120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"rs"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02552" y="424738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exclude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::Low, </a:t>
            </a:r>
            <a:pPr indent="0" marL="0">
              <a:buNone/>
            </a:pPr>
            <a:r>
              <a:rPr lang="en-US" sz="1200" dirty="0">
                <a:solidFill>
                  <a:srgbClr val="7FB2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|_p, sz|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02552" y="455371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sz &gt; </a:t>
            </a:r>
            <a:pPr indent="0" marL="0">
              <a:buNone/>
            </a:pPr>
            <a:r>
              <a:rPr lang="en-US" sz="120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8FC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02552" y="486003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allow_the_rest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buNone/>
            </a:pPr>
            <a:r>
              <a:rPr lang="en-US" sz="12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19672" y="527608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Precedence wins; a big-file rule and a lock-file carve-out over a broad allow.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constrained builders:  </a:t>
            </a:r>
            <a:pPr indent="0" marL="0">
              <a:buNone/>
            </a:pPr>
            <a:r>
              <a:rPr lang="en-US" sz="1300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deny_the_rest()</a:t>
            </a:r>
            <a:pPr indent="0" marL="0">
              <a:buNone/>
            </a:pPr>
            <a:r>
              <a:rPr lang="en-US" sz="130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allowlists, </a:t>
            </a:r>
            <a:pPr indent="0" marL="0">
              <a:buNone/>
            </a:pPr>
            <a:r>
              <a:rPr lang="en-US" sz="1300" dirty="0">
                <a:solidFill>
                  <a:srgbClr val="C68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allow_the_rest()</a:t>
            </a:r>
            <a:pPr indent="0" marL="0">
              <a:buNone/>
            </a:pPr>
            <a:r>
              <a:rPr lang="en-US" sz="1300" dirty="0">
                <a:solidFill>
                  <a:srgbClr val="3A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blocklists — the default is chosen at the terminal call.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" name="Shape 1"/>
          <p:cNvSpPr/>
          <p:nvPr/>
        </p:nvSpPr>
        <p:spPr>
          <a:xfrm>
            <a:off x="9180576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" name="Shape 2"/>
          <p:cNvSpPr/>
          <p:nvPr/>
        </p:nvSpPr>
        <p:spPr>
          <a:xfrm>
            <a:off x="9491472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" name="Shape 3"/>
          <p:cNvSpPr/>
          <p:nvPr/>
        </p:nvSpPr>
        <p:spPr>
          <a:xfrm>
            <a:off x="9802368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113264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0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8" name="Shape 6"/>
          <p:cNvSpPr/>
          <p:nvPr/>
        </p:nvSpPr>
        <p:spPr>
          <a:xfrm>
            <a:off x="10735056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9" name="Shape 7"/>
          <p:cNvSpPr/>
          <p:nvPr/>
        </p:nvSpPr>
        <p:spPr>
          <a:xfrm>
            <a:off x="11045952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0" name="Shape 8"/>
          <p:cNvSpPr/>
          <p:nvPr/>
        </p:nvSpPr>
        <p:spPr>
          <a:xfrm>
            <a:off x="11356848" y="64008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1" name="Shape 9"/>
          <p:cNvSpPr/>
          <p:nvPr/>
        </p:nvSpPr>
        <p:spPr>
          <a:xfrm>
            <a:off x="8869680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2" name="Shape 10"/>
          <p:cNvSpPr/>
          <p:nvPr/>
        </p:nvSpPr>
        <p:spPr>
          <a:xfrm>
            <a:off x="9180576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9491472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02368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13264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24160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35056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5952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56848" y="95097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0" name="Shape 18"/>
          <p:cNvSpPr/>
          <p:nvPr/>
        </p:nvSpPr>
        <p:spPr>
          <a:xfrm>
            <a:off x="8869680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9180576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9491472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9802368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13264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5" name="Shape 23"/>
          <p:cNvSpPr/>
          <p:nvPr/>
        </p:nvSpPr>
        <p:spPr>
          <a:xfrm>
            <a:off x="10424160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10735056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45952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11356848" y="126187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29" name="Shape 27"/>
          <p:cNvSpPr/>
          <p:nvPr/>
        </p:nvSpPr>
        <p:spPr>
          <a:xfrm>
            <a:off x="8869680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9180576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9491472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2" name="Shape 30"/>
          <p:cNvSpPr/>
          <p:nvPr/>
        </p:nvSpPr>
        <p:spPr>
          <a:xfrm>
            <a:off x="9802368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13264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10424160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5" name="Shape 33"/>
          <p:cNvSpPr/>
          <p:nvPr/>
        </p:nvSpPr>
        <p:spPr>
          <a:xfrm>
            <a:off x="10735056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6" name="Shape 34"/>
          <p:cNvSpPr/>
          <p:nvPr/>
        </p:nvSpPr>
        <p:spPr>
          <a:xfrm>
            <a:off x="11045952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11356848" y="157276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8" name="Shape 36"/>
          <p:cNvSpPr/>
          <p:nvPr/>
        </p:nvSpPr>
        <p:spPr>
          <a:xfrm>
            <a:off x="8869680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9180576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0" name="Shape 38"/>
          <p:cNvSpPr/>
          <p:nvPr/>
        </p:nvSpPr>
        <p:spPr>
          <a:xfrm>
            <a:off x="9491472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9802368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2" name="Shape 40"/>
          <p:cNvSpPr/>
          <p:nvPr/>
        </p:nvSpPr>
        <p:spPr>
          <a:xfrm>
            <a:off x="10113264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24160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4" name="Shape 42"/>
          <p:cNvSpPr/>
          <p:nvPr/>
        </p:nvSpPr>
        <p:spPr>
          <a:xfrm>
            <a:off x="10735056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45952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6" name="Shape 44"/>
          <p:cNvSpPr/>
          <p:nvPr/>
        </p:nvSpPr>
        <p:spPr>
          <a:xfrm>
            <a:off x="11356848" y="1883664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7" name="Shape 45"/>
          <p:cNvSpPr/>
          <p:nvPr/>
        </p:nvSpPr>
        <p:spPr>
          <a:xfrm>
            <a:off x="8869680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8" name="Shape 46"/>
          <p:cNvSpPr/>
          <p:nvPr/>
        </p:nvSpPr>
        <p:spPr>
          <a:xfrm>
            <a:off x="9180576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9491472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0" name="Shape 48"/>
          <p:cNvSpPr/>
          <p:nvPr/>
        </p:nvSpPr>
        <p:spPr>
          <a:xfrm>
            <a:off x="9802368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10113264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2" name="Shape 50"/>
          <p:cNvSpPr/>
          <p:nvPr/>
        </p:nvSpPr>
        <p:spPr>
          <a:xfrm>
            <a:off x="10424160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3" name="Shape 51"/>
          <p:cNvSpPr/>
          <p:nvPr/>
        </p:nvSpPr>
        <p:spPr>
          <a:xfrm>
            <a:off x="10735056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4" name="Shape 52"/>
          <p:cNvSpPr/>
          <p:nvPr/>
        </p:nvSpPr>
        <p:spPr>
          <a:xfrm>
            <a:off x="11045952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5" name="Shape 53"/>
          <p:cNvSpPr/>
          <p:nvPr/>
        </p:nvSpPr>
        <p:spPr>
          <a:xfrm>
            <a:off x="11356848" y="2194560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8869680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7" name="Shape 55"/>
          <p:cNvSpPr/>
          <p:nvPr/>
        </p:nvSpPr>
        <p:spPr>
          <a:xfrm>
            <a:off x="9180576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8" name="Shape 56"/>
          <p:cNvSpPr/>
          <p:nvPr/>
        </p:nvSpPr>
        <p:spPr>
          <a:xfrm>
            <a:off x="9491472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59" name="Shape 57"/>
          <p:cNvSpPr/>
          <p:nvPr/>
        </p:nvSpPr>
        <p:spPr>
          <a:xfrm>
            <a:off x="9802368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0" name="Shape 58"/>
          <p:cNvSpPr/>
          <p:nvPr/>
        </p:nvSpPr>
        <p:spPr>
          <a:xfrm>
            <a:off x="10113264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1" name="Shape 59"/>
          <p:cNvSpPr/>
          <p:nvPr/>
        </p:nvSpPr>
        <p:spPr>
          <a:xfrm>
            <a:off x="10424160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2" name="Shape 60"/>
          <p:cNvSpPr/>
          <p:nvPr/>
        </p:nvSpPr>
        <p:spPr>
          <a:xfrm>
            <a:off x="10735056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3" name="Shape 61"/>
          <p:cNvSpPr/>
          <p:nvPr/>
        </p:nvSpPr>
        <p:spPr>
          <a:xfrm>
            <a:off x="11045952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4" name="Shape 62"/>
          <p:cNvSpPr/>
          <p:nvPr/>
        </p:nvSpPr>
        <p:spPr>
          <a:xfrm>
            <a:off x="11356848" y="2505456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5" name="Shape 63"/>
          <p:cNvSpPr/>
          <p:nvPr/>
        </p:nvSpPr>
        <p:spPr>
          <a:xfrm>
            <a:off x="8869680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6" name="Shape 64"/>
          <p:cNvSpPr/>
          <p:nvPr/>
        </p:nvSpPr>
        <p:spPr>
          <a:xfrm>
            <a:off x="9180576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7" name="Shape 65"/>
          <p:cNvSpPr/>
          <p:nvPr/>
        </p:nvSpPr>
        <p:spPr>
          <a:xfrm>
            <a:off x="9491472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8" name="Shape 66"/>
          <p:cNvSpPr/>
          <p:nvPr/>
        </p:nvSpPr>
        <p:spPr>
          <a:xfrm>
            <a:off x="9802368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69" name="Shape 67"/>
          <p:cNvSpPr/>
          <p:nvPr/>
        </p:nvSpPr>
        <p:spPr>
          <a:xfrm>
            <a:off x="10113264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0" name="Shape 68"/>
          <p:cNvSpPr/>
          <p:nvPr/>
        </p:nvSpPr>
        <p:spPr>
          <a:xfrm>
            <a:off x="10424160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1" name="Shape 69"/>
          <p:cNvSpPr/>
          <p:nvPr/>
        </p:nvSpPr>
        <p:spPr>
          <a:xfrm>
            <a:off x="10735056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2" name="Shape 70"/>
          <p:cNvSpPr/>
          <p:nvPr/>
        </p:nvSpPr>
        <p:spPr>
          <a:xfrm>
            <a:off x="11045952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3" name="Shape 71"/>
          <p:cNvSpPr/>
          <p:nvPr/>
        </p:nvSpPr>
        <p:spPr>
          <a:xfrm>
            <a:off x="11356848" y="2816352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4" name="Shape 72"/>
          <p:cNvSpPr/>
          <p:nvPr/>
        </p:nvSpPr>
        <p:spPr>
          <a:xfrm>
            <a:off x="8869680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5" name="Shape 73"/>
          <p:cNvSpPr/>
          <p:nvPr/>
        </p:nvSpPr>
        <p:spPr>
          <a:xfrm>
            <a:off x="9180576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6" name="Shape 74"/>
          <p:cNvSpPr/>
          <p:nvPr/>
        </p:nvSpPr>
        <p:spPr>
          <a:xfrm>
            <a:off x="9491472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7" name="Shape 75"/>
          <p:cNvSpPr/>
          <p:nvPr/>
        </p:nvSpPr>
        <p:spPr>
          <a:xfrm>
            <a:off x="9802368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8" name="Shape 76"/>
          <p:cNvSpPr/>
          <p:nvPr/>
        </p:nvSpPr>
        <p:spPr>
          <a:xfrm>
            <a:off x="10113264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79" name="Shape 77"/>
          <p:cNvSpPr/>
          <p:nvPr/>
        </p:nvSpPr>
        <p:spPr>
          <a:xfrm>
            <a:off x="10424160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80" name="Shape 78"/>
          <p:cNvSpPr/>
          <p:nvPr/>
        </p:nvSpPr>
        <p:spPr>
          <a:xfrm>
            <a:off x="10735056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81" name="Shape 79"/>
          <p:cNvSpPr/>
          <p:nvPr/>
        </p:nvSpPr>
        <p:spPr>
          <a:xfrm>
            <a:off x="11045952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82" name="Shape 80"/>
          <p:cNvSpPr/>
          <p:nvPr/>
        </p:nvSpPr>
        <p:spPr>
          <a:xfrm>
            <a:off x="11356848" y="3127248"/>
            <a:ext cx="50292" cy="50292"/>
          </a:xfrm>
          <a:prstGeom prst="ellipse">
            <a:avLst/>
          </a:prstGeom>
          <a:solidFill>
            <a:srgbClr val="2C3A4D"/>
          </a:solidFill>
          <a:ln/>
        </p:spPr>
      </p:sp>
      <p:sp>
        <p:nvSpPr>
          <p:cNvPr id="83" name="Shape 8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4" name="Text 82"/>
          <p:cNvSpPr/>
          <p:nvPr/>
        </p:nvSpPr>
        <p:spPr>
          <a:xfrm>
            <a:off x="822960" y="123444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Where it stands</a:t>
            </a:r>
            <a:endParaRPr lang="en-US" sz="4000" dirty="0"/>
          </a:p>
        </p:txBody>
      </p:sp>
      <p:sp>
        <p:nvSpPr>
          <p:cNvPr id="85" name="Text 83"/>
          <p:cNvSpPr/>
          <p:nvPr/>
        </p:nvSpPr>
        <p:spPr>
          <a:xfrm>
            <a:off x="868680" y="23774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5200" dirty="0"/>
          </a:p>
        </p:txBody>
      </p:sp>
      <p:sp>
        <p:nvSpPr>
          <p:cNvPr id="86" name="Text 84"/>
          <p:cNvSpPr/>
          <p:nvPr/>
        </p:nvSpPr>
        <p:spPr>
          <a:xfrm>
            <a:off x="868680" y="3337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traits</a:t>
            </a:r>
            <a:endParaRPr lang="en-US" sz="1400" dirty="0"/>
          </a:p>
        </p:txBody>
      </p:sp>
      <p:sp>
        <p:nvSpPr>
          <p:cNvPr id="87" name="Text 85"/>
          <p:cNvSpPr/>
          <p:nvPr/>
        </p:nvSpPr>
        <p:spPr>
          <a:xfrm>
            <a:off x="3657600" y="23774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5FA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5200" dirty="0"/>
          </a:p>
        </p:txBody>
      </p:sp>
      <p:sp>
        <p:nvSpPr>
          <p:cNvPr id="88" name="Text 86"/>
          <p:cNvSpPr/>
          <p:nvPr/>
        </p:nvSpPr>
        <p:spPr>
          <a:xfrm>
            <a:off x="3657600" y="3337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VarMap scopes</a:t>
            </a:r>
            <a:endParaRPr lang="en-US" sz="1400" dirty="0"/>
          </a:p>
        </p:txBody>
      </p:sp>
      <p:sp>
        <p:nvSpPr>
          <p:cNvPr id="89" name="Text 87"/>
          <p:cNvSpPr/>
          <p:nvPr/>
        </p:nvSpPr>
        <p:spPr>
          <a:xfrm>
            <a:off x="6446520" y="23774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AEBE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5200" dirty="0"/>
          </a:p>
        </p:txBody>
      </p:sp>
      <p:sp>
        <p:nvSpPr>
          <p:cNvPr id="90" name="Text 88"/>
          <p:cNvSpPr/>
          <p:nvPr/>
        </p:nvSpPr>
        <p:spPr>
          <a:xfrm>
            <a:off x="6446520" y="3337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868680" y="4114800"/>
            <a:ext cx="7772400" cy="0"/>
          </a:xfrm>
          <a:prstGeom prst="line">
            <a:avLst/>
          </a:prstGeom>
          <a:noFill/>
          <a:ln w="12700">
            <a:solidFill>
              <a:srgbClr val="2E3B4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68680" y="4389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A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Working:  </a:t>
            </a:r>
            <a:pPr indent="0" marL="0">
              <a:buNone/>
            </a:pPr>
            <a:r>
              <a:rPr lang="en-US" sz="15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identification, range dispatch, filters, the Object result tree, pooled local maps, recursion.</a:t>
            </a:r>
            <a:endParaRPr lang="en-US" sz="1500" dirty="0"/>
          </a:p>
        </p:txBody>
      </p:sp>
      <p:sp>
        <p:nvSpPr>
          <p:cNvPr id="93" name="Text 91"/>
          <p:cNvSpPr/>
          <p:nvPr/>
        </p:nvSpPr>
        <p:spPr>
          <a:xfrm>
            <a:off x="86868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</a:t>
            </a:r>
            <a:pPr indent="0" marL="0">
              <a:buNone/>
            </a:pPr>
            <a:r>
              <a:rPr lang="en-US" sz="15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extractor-session reshape (kills re-entrancy) — then multi-type sets for DOCX / APK / SFX.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822960" y="6172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0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content_scan  ·  MIT  ·  0.1.x — early / experimental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2026-08-07T07:53:43Z</dcterms:created>
  <dcterms:modified xsi:type="dcterms:W3CDTF">2026-08-07T07:53:43Z</dcterms:modified>
</cp:coreProperties>
</file>